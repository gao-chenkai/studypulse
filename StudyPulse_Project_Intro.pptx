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61320" y="438912"/>
            <a:ext cx="54864" cy="54864"/>
          </a:xfrm>
          <a:prstGeom prst="ellipse">
            <a:avLst/>
          </a:prstGeom>
          <a:solidFill>
            <a:srgbClr val="1E293B">
              <a:alpha val="85000"/>
            </a:srgbClr>
          </a:solidFill>
          <a:ln w="12700">
            <a:solidFill>
              <a:srgbClr val="1E293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872216" y="438912"/>
            <a:ext cx="54864" cy="54864"/>
          </a:xfrm>
          <a:prstGeom prst="ellipse">
            <a:avLst/>
          </a:prstGeom>
          <a:solidFill>
            <a:srgbClr val="1E293B">
              <a:alpha val="85000"/>
            </a:srgbClr>
          </a:solidFill>
          <a:ln w="12700">
            <a:solidFill>
              <a:srgbClr val="1E293B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183112" y="438912"/>
            <a:ext cx="54864" cy="54864"/>
          </a:xfrm>
          <a:prstGeom prst="ellipse">
            <a:avLst/>
          </a:prstGeom>
          <a:solidFill>
            <a:srgbClr val="1E293B">
              <a:alpha val="85000"/>
            </a:srgbClr>
          </a:solidFill>
          <a:ln w="12700">
            <a:solidFill>
              <a:srgbClr val="1E293B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561320" y="749808"/>
            <a:ext cx="54864" cy="54864"/>
          </a:xfrm>
          <a:prstGeom prst="ellipse">
            <a:avLst/>
          </a:prstGeom>
          <a:solidFill>
            <a:srgbClr val="1E293B">
              <a:alpha val="85000"/>
            </a:srgbClr>
          </a:solidFill>
          <a:ln w="12700">
            <a:solidFill>
              <a:srgbClr val="1E293B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872216" y="749808"/>
            <a:ext cx="54864" cy="54864"/>
          </a:xfrm>
          <a:prstGeom prst="ellipse">
            <a:avLst/>
          </a:prstGeom>
          <a:solidFill>
            <a:srgbClr val="1E293B">
              <a:alpha val="85000"/>
            </a:srgbClr>
          </a:solidFill>
          <a:ln w="12700">
            <a:solidFill>
              <a:srgbClr val="1E293B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183112" y="749808"/>
            <a:ext cx="54864" cy="54864"/>
          </a:xfrm>
          <a:prstGeom prst="ellipse">
            <a:avLst/>
          </a:prstGeom>
          <a:solidFill>
            <a:srgbClr val="1E293B">
              <a:alpha val="85000"/>
            </a:srgbClr>
          </a:solidFill>
          <a:ln w="12700">
            <a:solidFill>
              <a:srgbClr val="1E293B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13232" y="566928"/>
            <a:ext cx="2331720" cy="310896"/>
          </a:xfrm>
          <a:prstGeom prst="roundRect">
            <a:avLst>
              <a:gd name="adj" fmla="val 23529"/>
            </a:avLst>
          </a:prstGeom>
          <a:solidFill>
            <a:srgbClr val="1E293B">
              <a:alpha val="95000"/>
            </a:srgbClr>
          </a:solidFill>
          <a:ln w="12700">
            <a:solidFill>
              <a:srgbClr val="DBEAFE">
                <a:alpha val="35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640080"/>
            <a:ext cx="211226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BEAFE"/>
                </a:solidFill>
                <a:latin typeface="SF Pro Text" pitchFamily="34" charset="0"/>
                <a:ea typeface="SF Pro Text" pitchFamily="34" charset="-122"/>
                <a:cs typeface="SF Pro Text" pitchFamily="34" charset="-120"/>
              </a:rPr>
              <a:t>SwiftUI · HealthKit · WidgetKit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694944" y="1417320"/>
            <a:ext cx="6217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SF Pro Display" pitchFamily="34" charset="0"/>
                <a:ea typeface="SF Pro Display" pitchFamily="34" charset="-122"/>
                <a:cs typeface="SF Pro Display" pitchFamily="34" charset="-120"/>
              </a:rPr>
              <a:t>StudyPulse</a:t>
            </a:r>
            <a:endParaRPr lang="en-US" sz="4800" dirty="0"/>
          </a:p>
        </p:txBody>
      </p:sp>
      <p:sp>
        <p:nvSpPr>
          <p:cNvPr id="11" name="Text 9"/>
          <p:cNvSpPr/>
          <p:nvPr/>
        </p:nvSpPr>
        <p:spPr>
          <a:xfrm>
            <a:off x="749808" y="2340864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8E3F0"/>
                </a:solidFill>
                <a:latin typeface="SF Pro Text" pitchFamily="34" charset="0"/>
                <a:ea typeface="SF Pro Text" pitchFamily="34" charset="-122"/>
                <a:cs typeface="SF Pro Text" pitchFamily="34" charset="-120"/>
              </a:rPr>
              <a:t>面向全球教育体系的 iOS 学业管理应用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49808" y="2761488"/>
            <a:ext cx="5212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2E8F0"/>
                </a:solidFill>
                <a:latin typeface="SF Pro Text" pitchFamily="34" charset="0"/>
                <a:ea typeface="SF Pro Text" pitchFamily="34" charset="-122"/>
                <a:cs typeface="SF Pro Text" pitchFamily="34" charset="-120"/>
              </a:rPr>
              <a:t>把成绩、错题、考试、健康信号与复习节奏放在一个闭环里。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49808" y="4864608"/>
            <a:ext cx="1691640" cy="1225296"/>
          </a:xfrm>
          <a:prstGeom prst="roundRect">
            <a:avLst>
              <a:gd name="adj" fmla="val 8955"/>
            </a:avLst>
          </a:prstGeom>
          <a:solidFill>
            <a:srgbClr val="FFFFFF"/>
          </a:solidFill>
          <a:ln w="12700">
            <a:solidFill>
              <a:srgbClr val="D8E3F0">
                <a:alpha val="80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93A4B7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14400" y="5020056"/>
            <a:ext cx="13624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59E0B"/>
                </a:solidFill>
                <a:latin typeface="SF Pro Display" pitchFamily="34" charset="0"/>
                <a:ea typeface="SF Pro Display" pitchFamily="34" charset="-122"/>
                <a:cs typeface="SF Pro Display" pitchFamily="34" charset="-120"/>
              </a:rPr>
              <a:t>131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932688" y="5504688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SF Pro Text" pitchFamily="34" charset="0"/>
                <a:ea typeface="SF Pro Text" pitchFamily="34" charset="-122"/>
                <a:cs typeface="SF Pro Text" pitchFamily="34" charset="-120"/>
              </a:rPr>
              <a:t>Swift 文件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932688" y="5760720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b="1" dirty="0">
                <a:solidFill>
                  <a:srgbClr val="64748B"/>
                </a:solidFill>
                <a:latin typeface="SF Pro Text" pitchFamily="34" charset="0"/>
                <a:ea typeface="SF Pro Text" pitchFamily="34" charset="-122"/>
                <a:cs typeface="SF Pro Text" pitchFamily="34" charset="-120"/>
              </a:rPr>
              <a:t>主应用源码</a:t>
            </a:r>
            <a:endParaRPr lang="en-US" sz="760" dirty="0"/>
          </a:p>
        </p:txBody>
      </p:sp>
      <p:sp>
        <p:nvSpPr>
          <p:cNvPr id="17" name="Shape 15"/>
          <p:cNvSpPr/>
          <p:nvPr/>
        </p:nvSpPr>
        <p:spPr>
          <a:xfrm>
            <a:off x="2633472" y="4864608"/>
            <a:ext cx="1691640" cy="1225296"/>
          </a:xfrm>
          <a:prstGeom prst="roundRect">
            <a:avLst>
              <a:gd name="adj" fmla="val 8955"/>
            </a:avLst>
          </a:prstGeom>
          <a:solidFill>
            <a:srgbClr val="FFFFFF"/>
          </a:solidFill>
          <a:ln w="12700">
            <a:solidFill>
              <a:srgbClr val="D8E3F0">
                <a:alpha val="80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93A4B7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2798064" y="5020056"/>
            <a:ext cx="13624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59E0B"/>
                </a:solidFill>
                <a:latin typeface="SF Pro Display" pitchFamily="34" charset="0"/>
                <a:ea typeface="SF Pro Display" pitchFamily="34" charset="-122"/>
                <a:cs typeface="SF Pro Display" pitchFamily="34" charset="-120"/>
              </a:rPr>
              <a:t>33,576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2816352" y="5504688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SF Pro Text" pitchFamily="34" charset="0"/>
                <a:ea typeface="SF Pro Text" pitchFamily="34" charset="-122"/>
                <a:cs typeface="SF Pro Text" pitchFamily="34" charset="-120"/>
              </a:rPr>
              <a:t>Swift 代码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816352" y="5760720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b="1" dirty="0">
                <a:solidFill>
                  <a:srgbClr val="64748B"/>
                </a:solidFill>
                <a:latin typeface="SF Pro Text" pitchFamily="34" charset="0"/>
                <a:ea typeface="SF Pro Text" pitchFamily="34" charset="-122"/>
                <a:cs typeface="SF Pro Text" pitchFamily="34" charset="-120"/>
              </a:rPr>
              <a:t>行</a:t>
            </a:r>
            <a:endParaRPr lang="en-US" sz="760" dirty="0"/>
          </a:p>
        </p:txBody>
      </p:sp>
      <p:sp>
        <p:nvSpPr>
          <p:cNvPr id="21" name="Shape 19"/>
          <p:cNvSpPr/>
          <p:nvPr/>
        </p:nvSpPr>
        <p:spPr>
          <a:xfrm>
            <a:off x="4517136" y="4864608"/>
            <a:ext cx="1691640" cy="1225296"/>
          </a:xfrm>
          <a:prstGeom prst="roundRect">
            <a:avLst>
              <a:gd name="adj" fmla="val 8955"/>
            </a:avLst>
          </a:prstGeom>
          <a:solidFill>
            <a:srgbClr val="FFFFFF"/>
          </a:solidFill>
          <a:ln w="12700">
            <a:solidFill>
              <a:srgbClr val="D8E3F0">
                <a:alpha val="80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93A4B7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681728" y="5020056"/>
            <a:ext cx="13624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59E0B"/>
                </a:solidFill>
                <a:latin typeface="SF Pro Display" pitchFamily="34" charset="0"/>
                <a:ea typeface="SF Pro Display" pitchFamily="34" charset="-122"/>
                <a:cs typeface="SF Pro Display" pitchFamily="34" charset="-120"/>
              </a:rPr>
              <a:t>5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4700016" y="5504688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SF Pro Text" pitchFamily="34" charset="0"/>
                <a:ea typeface="SF Pro Text" pitchFamily="34" charset="-122"/>
                <a:cs typeface="SF Pro Text" pitchFamily="34" charset="-120"/>
              </a:rPr>
              <a:t>本地化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700016" y="5760720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b="1" dirty="0">
                <a:solidFill>
                  <a:srgbClr val="64748B"/>
                </a:solidFill>
                <a:latin typeface="SF Pro Text" pitchFamily="34" charset="0"/>
                <a:ea typeface="SF Pro Text" pitchFamily="34" charset="-122"/>
                <a:cs typeface="SF Pro Text" pitchFamily="34" charset="-120"/>
              </a:rPr>
              <a:t>语言体系</a:t>
            </a:r>
            <a:endParaRPr lang="en-US" sz="760" dirty="0"/>
          </a:p>
        </p:txBody>
      </p:sp>
      <p:sp>
        <p:nvSpPr>
          <p:cNvPr id="25" name="Shape 23"/>
          <p:cNvSpPr/>
          <p:nvPr/>
        </p:nvSpPr>
        <p:spPr>
          <a:xfrm>
            <a:off x="7315200" y="868680"/>
            <a:ext cx="3977640" cy="5074920"/>
          </a:xfrm>
          <a:prstGeom prst="roundRect">
            <a:avLst>
              <a:gd name="adj" fmla="val 2759"/>
            </a:avLst>
          </a:prstGeom>
          <a:solidFill>
            <a:srgbClr val="FFFFFF">
              <a:alpha val="96000"/>
            </a:srgbClr>
          </a:solidFill>
          <a:ln w="12700">
            <a:solidFill>
              <a:srgbClr val="93C5FD">
                <a:alpha val="60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93A4B7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7607808" y="1207008"/>
            <a:ext cx="3401568" cy="4434840"/>
          </a:xfrm>
          <a:prstGeom prst="roundRect">
            <a:avLst>
              <a:gd name="adj" fmla="val 4301"/>
            </a:avLst>
          </a:prstGeom>
          <a:solidFill>
            <a:srgbClr val="FFFFFF"/>
          </a:solidFill>
          <a:ln w="16510">
            <a:solidFill>
              <a:srgbClr val="1E40A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754112" y="1371600"/>
            <a:ext cx="3108960" cy="4105656"/>
          </a:xfrm>
          <a:prstGeom prst="roundRect">
            <a:avLst>
              <a:gd name="adj" fmla="val 3824"/>
            </a:avLst>
          </a:prstGeom>
          <a:solidFill>
            <a:srgbClr val="F8FAFC"/>
          </a:solidFill>
          <a:ln w="10160">
            <a:solidFill>
              <a:srgbClr val="D8E3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836408" y="3259836"/>
            <a:ext cx="2944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40AF"/>
                </a:solidFill>
                <a:latin typeface="SF Pro Display" pitchFamily="34" charset="0"/>
                <a:ea typeface="SF Pro Display" pitchFamily="34" charset="-122"/>
                <a:cs typeface="SF Pro Display" pitchFamily="34" charset="-120"/>
              </a:rPr>
              <a:t>Hero Screenshot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7836408" y="3570732"/>
            <a:ext cx="2944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  <a:latin typeface="SF Pro Text" pitchFamily="34" charset="0"/>
                <a:ea typeface="SF Pro Text" pitchFamily="34" charset="-122"/>
                <a:cs typeface="SF Pro Text" pitchFamily="34" charset="-120"/>
              </a:rPr>
              <a:t>主界面截图空缺</a:t>
            </a:r>
            <a:endParaRPr lang="en-US" sz="740" dirty="0"/>
          </a:p>
        </p:txBody>
      </p:sp>
      <p:sp>
        <p:nvSpPr>
          <p:cNvPr id="30" name="Text 28"/>
          <p:cNvSpPr/>
          <p:nvPr/>
        </p:nvSpPr>
        <p:spPr>
          <a:xfrm>
            <a:off x="10012680" y="6473952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b="1" dirty="0">
                <a:solidFill>
                  <a:srgbClr val="64748B"/>
                </a:solidFill>
                <a:latin typeface="SF Pro Text" pitchFamily="34" charset="0"/>
                <a:ea typeface="SF Pro Text" pitchFamily="34" charset="-122"/>
                <a:cs typeface="SF Pro Text" pitchFamily="34" charset="-120"/>
              </a:rPr>
              <a:t>StudyPulse · 01</a:t>
            </a:r>
            <a:endParaRPr lang="en-US" sz="72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61320" y="438912"/>
            <a:ext cx="54864" cy="54864"/>
          </a:xfrm>
          <a:prstGeom prst="ellipse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872216" y="438912"/>
            <a:ext cx="54864" cy="54864"/>
          </a:xfrm>
          <a:prstGeom prst="ellipse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183112" y="438912"/>
            <a:ext cx="54864" cy="54864"/>
          </a:xfrm>
          <a:prstGeom prst="ellipse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561320" y="749808"/>
            <a:ext cx="54864" cy="54864"/>
          </a:xfrm>
          <a:prstGeom prst="ellipse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872216" y="749808"/>
            <a:ext cx="54864" cy="54864"/>
          </a:xfrm>
          <a:prstGeom prst="ellipse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183112" y="749808"/>
            <a:ext cx="54864" cy="54864"/>
          </a:xfrm>
          <a:prstGeom prst="ellipse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393192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SF Pro Display" pitchFamily="34" charset="0"/>
                <a:ea typeface="SF Pro Display" pitchFamily="34" charset="-122"/>
                <a:cs typeface="SF Pro Display" pitchFamily="34" charset="-120"/>
              </a:rPr>
              <a:t>目录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612648" y="850392"/>
            <a:ext cx="80467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4748B"/>
                </a:solidFill>
                <a:latin typeface="SF Pro Text" pitchFamily="34" charset="0"/>
                <a:ea typeface="SF Pro Text" pitchFamily="34" charset="-122"/>
                <a:cs typeface="SF Pro Text" pitchFamily="34" charset="-120"/>
              </a:rPr>
              <a:t>从产品定位到工程实现，快速理解 StudyPulse 的完整价值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94360" y="1161288"/>
            <a:ext cx="10972800" cy="0"/>
          </a:xfrm>
          <a:prstGeom prst="line">
            <a:avLst/>
          </a:prstGeom>
          <a:noFill/>
          <a:ln w="12700">
            <a:solidFill>
              <a:srgbClr val="D8E3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77240" y="1600200"/>
            <a:ext cx="3063240" cy="1216152"/>
          </a:xfrm>
          <a:prstGeom prst="roundRect">
            <a:avLst>
              <a:gd name="adj" fmla="val 9023"/>
            </a:avLst>
          </a:prstGeom>
          <a:solidFill>
            <a:srgbClr val="FFFFFF"/>
          </a:solidFill>
          <a:ln w="12700">
            <a:solidFill>
              <a:srgbClr val="D8E3F0">
                <a:alpha val="80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93A4B7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960120" y="1783080"/>
            <a:ext cx="6583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40AF"/>
                </a:solidFill>
                <a:latin typeface="SF Pro Display" pitchFamily="34" charset="0"/>
                <a:ea typeface="SF Pro Display" pitchFamily="34" charset="-122"/>
                <a:cs typeface="SF Pro Display" pitchFamily="34" charset="-120"/>
              </a:rPr>
              <a:t>01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709928" y="1801368"/>
            <a:ext cx="17830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SF Pro Display" pitchFamily="34" charset="0"/>
                <a:ea typeface="SF Pro Display" pitchFamily="34" charset="-122"/>
                <a:cs typeface="SF Pro Display" pitchFamily="34" charset="-120"/>
              </a:rPr>
              <a:t>产品定位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709928" y="220370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SF Pro Text" pitchFamily="34" charset="0"/>
                <a:ea typeface="SF Pro Text" pitchFamily="34" charset="-122"/>
                <a:cs typeface="SF Pro Text" pitchFamily="34" charset="-120"/>
              </a:rPr>
              <a:t>学习闭环与目标用户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4434840" y="1600200"/>
            <a:ext cx="3063240" cy="1216152"/>
          </a:xfrm>
          <a:prstGeom prst="roundRect">
            <a:avLst>
              <a:gd name="adj" fmla="val 9023"/>
            </a:avLst>
          </a:prstGeom>
          <a:solidFill>
            <a:srgbClr val="FFFFFF"/>
          </a:solidFill>
          <a:ln w="12700">
            <a:solidFill>
              <a:srgbClr val="D8E3F0">
                <a:alpha val="80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93A4B7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617720" y="1783080"/>
            <a:ext cx="6583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40AF"/>
                </a:solidFill>
                <a:latin typeface="SF Pro Display" pitchFamily="34" charset="0"/>
                <a:ea typeface="SF Pro Display" pitchFamily="34" charset="-122"/>
                <a:cs typeface="SF Pro Display" pitchFamily="34" charset="-120"/>
              </a:rPr>
              <a:t>02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5367528" y="1801368"/>
            <a:ext cx="17830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SF Pro Display" pitchFamily="34" charset="0"/>
                <a:ea typeface="SF Pro Display" pitchFamily="34" charset="-122"/>
                <a:cs typeface="SF Pro Display" pitchFamily="34" charset="-120"/>
              </a:rPr>
              <a:t>核心功能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367528" y="220370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SF Pro Text" pitchFamily="34" charset="0"/>
                <a:ea typeface="SF Pro Text" pitchFamily="34" charset="-122"/>
                <a:cs typeface="SF Pro Text" pitchFamily="34" charset="-120"/>
              </a:rPr>
              <a:t>成绩、错题、考试、待办、报告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8092440" y="1600200"/>
            <a:ext cx="3063240" cy="1216152"/>
          </a:xfrm>
          <a:prstGeom prst="roundRect">
            <a:avLst>
              <a:gd name="adj" fmla="val 9023"/>
            </a:avLst>
          </a:prstGeom>
          <a:solidFill>
            <a:srgbClr val="FFFFFF"/>
          </a:solidFill>
          <a:ln w="12700">
            <a:solidFill>
              <a:srgbClr val="D8E3F0">
                <a:alpha val="80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93A4B7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275320" y="1783080"/>
            <a:ext cx="6583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40AF"/>
                </a:solidFill>
                <a:latin typeface="SF Pro Display" pitchFamily="34" charset="0"/>
                <a:ea typeface="SF Pro Display" pitchFamily="34" charset="-122"/>
                <a:cs typeface="SF Pro Display" pitchFamily="34" charset="-120"/>
              </a:rPr>
              <a:t>03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9025128" y="1801368"/>
            <a:ext cx="17830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SF Pro Display" pitchFamily="34" charset="0"/>
                <a:ea typeface="SF Pro Display" pitchFamily="34" charset="-122"/>
                <a:cs typeface="SF Pro Display" pitchFamily="34" charset="-120"/>
              </a:rPr>
              <a:t>智能算法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025128" y="220370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SF Pro Text" pitchFamily="34" charset="0"/>
                <a:ea typeface="SF Pro Text" pitchFamily="34" charset="-122"/>
                <a:cs typeface="SF Pro Text" pitchFamily="34" charset="-120"/>
              </a:rPr>
              <a:t>HealthKit 多维信号与准备度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777240" y="3291840"/>
            <a:ext cx="3063240" cy="1216152"/>
          </a:xfrm>
          <a:prstGeom prst="roundRect">
            <a:avLst>
              <a:gd name="adj" fmla="val 9023"/>
            </a:avLst>
          </a:prstGeom>
          <a:solidFill>
            <a:srgbClr val="FFFFFF"/>
          </a:solidFill>
          <a:ln w="12700">
            <a:solidFill>
              <a:srgbClr val="D8E3F0">
                <a:alpha val="80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93A4B7">
                <a:alpha val="1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960120" y="3474720"/>
            <a:ext cx="6583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40AF"/>
                </a:solidFill>
                <a:latin typeface="SF Pro Display" pitchFamily="34" charset="0"/>
                <a:ea typeface="SF Pro Display" pitchFamily="34" charset="-122"/>
                <a:cs typeface="SF Pro Display" pitchFamily="34" charset="-120"/>
              </a:rPr>
              <a:t>04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709928" y="3493008"/>
            <a:ext cx="17830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SF Pro Display" pitchFamily="34" charset="0"/>
                <a:ea typeface="SF Pro Display" pitchFamily="34" charset="-122"/>
                <a:cs typeface="SF Pro Display" pitchFamily="34" charset="-120"/>
              </a:rPr>
              <a:t>系统架构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709928" y="389534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  <a:latin typeface="SF Pro Text" pitchFamily="34" charset="0"/>
                <a:ea typeface="SF Pro Text" pitchFamily="34" charset="-122"/>
                <a:cs typeface="SF Pro Text" pitchFamily="34" charset="-120"/>
              </a:rPr>
              <a:t>SwiftUI + Manager + SwiftData + Widget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4434840" y="3291840"/>
            <a:ext cx="3063240" cy="1216152"/>
          </a:xfrm>
          <a:prstGeom prst="roundRect">
            <a:avLst>
              <a:gd name="adj" fmla="val 9023"/>
            </a:avLst>
          </a:prstGeom>
          <a:solidFill>
            <a:srgbClr val="0F172A"/>
          </a:solidFill>
          <a:ln w="12700">
            <a:solidFill>
              <a:srgbClr val="0F172A">
                <a:alpha val="80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93A4B7">
                <a:alpha val="1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4617720" y="3474720"/>
            <a:ext cx="6583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SF Pro Display" pitchFamily="34" charset="0"/>
                <a:ea typeface="SF Pro Display" pitchFamily="34" charset="-122"/>
                <a:cs typeface="SF Pro Display" pitchFamily="34" charset="-120"/>
              </a:rPr>
              <a:t>05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5367528" y="3493008"/>
            <a:ext cx="17830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F Pro Display" pitchFamily="34" charset="0"/>
                <a:ea typeface="SF Pro Display" pitchFamily="34" charset="-122"/>
                <a:cs typeface="SF Pro Display" pitchFamily="34" charset="-120"/>
              </a:rPr>
              <a:t>工程亮点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367528" y="389534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CBD5E1"/>
                </a:solidFill>
                <a:latin typeface="SF Pro Text" pitchFamily="34" charset="0"/>
                <a:ea typeface="SF Pro Text" pitchFamily="34" charset="-122"/>
                <a:cs typeface="SF Pro Text" pitchFamily="34" charset="-120"/>
              </a:rPr>
              <a:t>性能、并发、本地化与路线图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10012680" y="6473952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b="1" dirty="0">
                <a:solidFill>
                  <a:srgbClr val="64748B"/>
                </a:solidFill>
                <a:latin typeface="SF Pro Text" pitchFamily="34" charset="0"/>
                <a:ea typeface="SF Pro Text" pitchFamily="34" charset="-122"/>
                <a:cs typeface="SF Pro Text" pitchFamily="34" charset="-120"/>
              </a:rPr>
              <a:t>StudyPulse · 02</a:t>
            </a:r>
            <a:endParaRPr lang="en-US" sz="72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61320" y="438912"/>
            <a:ext cx="54864" cy="54864"/>
          </a:xfrm>
          <a:prstGeom prst="ellipse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872216" y="438912"/>
            <a:ext cx="54864" cy="54864"/>
          </a:xfrm>
          <a:prstGeom prst="ellipse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183112" y="438912"/>
            <a:ext cx="54864" cy="54864"/>
          </a:xfrm>
          <a:prstGeom prst="ellipse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561320" y="749808"/>
            <a:ext cx="54864" cy="54864"/>
          </a:xfrm>
          <a:prstGeom prst="ellipse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872216" y="749808"/>
            <a:ext cx="54864" cy="54864"/>
          </a:xfrm>
          <a:prstGeom prst="ellipse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183112" y="749808"/>
            <a:ext cx="54864" cy="54864"/>
          </a:xfrm>
          <a:prstGeom prst="ellipse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393192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SF Pro Display" pitchFamily="34" charset="0"/>
                <a:ea typeface="SF Pro Display" pitchFamily="34" charset="-122"/>
                <a:cs typeface="SF Pro Display" pitchFamily="34" charset="-120"/>
              </a:rPr>
              <a:t>一个应用串起学习闭环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612648" y="850392"/>
            <a:ext cx="80467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4748B"/>
                </a:solidFill>
                <a:latin typeface="SF Pro Text" pitchFamily="34" charset="0"/>
                <a:ea typeface="SF Pro Text" pitchFamily="34" charset="-122"/>
                <a:cs typeface="SF Pro Text" pitchFamily="34" charset="-120"/>
              </a:rPr>
              <a:t>从记录到行动，StudyPulse 不只是数据收集器，而是学习节奏管理器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94360" y="1161288"/>
            <a:ext cx="10972800" cy="0"/>
          </a:xfrm>
          <a:prstGeom prst="line">
            <a:avLst/>
          </a:prstGeom>
          <a:noFill/>
          <a:ln w="12700">
            <a:solidFill>
              <a:srgbClr val="D8E3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074920" y="1508760"/>
            <a:ext cx="1920240" cy="82296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8E3F0">
                <a:alpha val="80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93A4B7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212080" y="1636776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40AF"/>
                </a:solidFill>
                <a:latin typeface="SF Pro Display" pitchFamily="34" charset="0"/>
                <a:ea typeface="SF Pro Display" pitchFamily="34" charset="-122"/>
                <a:cs typeface="SF Pro Display" pitchFamily="34" charset="-120"/>
              </a:rPr>
              <a:t>记录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184648" y="1956816"/>
            <a:ext cx="17007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  <a:latin typeface="SF Pro Text" pitchFamily="34" charset="0"/>
                <a:ea typeface="SF Pro Text" pitchFamily="34" charset="-122"/>
                <a:cs typeface="SF Pro Text" pitchFamily="34" charset="-120"/>
              </a:rPr>
              <a:t>成绩 / 错题 / 考试</a:t>
            </a:r>
            <a:endParaRPr lang="en-US" sz="740" dirty="0"/>
          </a:p>
        </p:txBody>
      </p:sp>
      <p:sp>
        <p:nvSpPr>
          <p:cNvPr id="14" name="Shape 12"/>
          <p:cNvSpPr/>
          <p:nvPr/>
        </p:nvSpPr>
        <p:spPr>
          <a:xfrm>
            <a:off x="7727341" y="2709246"/>
            <a:ext cx="1920240" cy="82296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8E3F0">
                <a:alpha val="80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93A4B7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7864501" y="2837262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40AF"/>
                </a:solidFill>
                <a:latin typeface="SF Pro Display" pitchFamily="34" charset="0"/>
                <a:ea typeface="SF Pro Display" pitchFamily="34" charset="-122"/>
                <a:cs typeface="SF Pro Display" pitchFamily="34" charset="-120"/>
              </a:rPr>
              <a:t>分析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837069" y="3157302"/>
            <a:ext cx="17007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  <a:latin typeface="SF Pro Text" pitchFamily="34" charset="0"/>
                <a:ea typeface="SF Pro Text" pitchFamily="34" charset="-122"/>
                <a:cs typeface="SF Pro Text" pitchFamily="34" charset="-120"/>
              </a:rPr>
              <a:t>趋势 / 排名 / 关注科目</a:t>
            </a:r>
            <a:endParaRPr lang="en-US" sz="740" dirty="0"/>
          </a:p>
        </p:txBody>
      </p:sp>
      <p:sp>
        <p:nvSpPr>
          <p:cNvPr id="17" name="Shape 15"/>
          <p:cNvSpPr/>
          <p:nvPr/>
        </p:nvSpPr>
        <p:spPr>
          <a:xfrm>
            <a:off x="6714206" y="4651674"/>
            <a:ext cx="1920240" cy="822960"/>
          </a:xfrm>
          <a:prstGeom prst="roundRect">
            <a:avLst>
              <a:gd name="adj" fmla="val 13333"/>
            </a:avLst>
          </a:prstGeom>
          <a:solidFill>
            <a:srgbClr val="FEF3C7"/>
          </a:solidFill>
          <a:ln w="12700">
            <a:solidFill>
              <a:srgbClr val="F59E0B">
                <a:alpha val="80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93A4B7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851366" y="4779690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SF Pro Display" pitchFamily="34" charset="0"/>
                <a:ea typeface="SF Pro Display" pitchFamily="34" charset="-122"/>
                <a:cs typeface="SF Pro Display" pitchFamily="34" charset="-120"/>
              </a:rPr>
              <a:t>建议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823934" y="5099730"/>
            <a:ext cx="17007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  <a:latin typeface="SF Pro Text" pitchFamily="34" charset="0"/>
                <a:ea typeface="SF Pro Text" pitchFamily="34" charset="-122"/>
                <a:cs typeface="SF Pro Text" pitchFamily="34" charset="-120"/>
              </a:rPr>
              <a:t>HRV + 身体信号</a:t>
            </a:r>
            <a:endParaRPr lang="en-US" sz="740" dirty="0"/>
          </a:p>
        </p:txBody>
      </p:sp>
      <p:sp>
        <p:nvSpPr>
          <p:cNvPr id="20" name="Shape 18"/>
          <p:cNvSpPr/>
          <p:nvPr/>
        </p:nvSpPr>
        <p:spPr>
          <a:xfrm>
            <a:off x="3435634" y="4651674"/>
            <a:ext cx="1920240" cy="82296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8E3F0">
                <a:alpha val="80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93A4B7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572794" y="4779690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40AF"/>
                </a:solidFill>
                <a:latin typeface="SF Pro Display" pitchFamily="34" charset="0"/>
                <a:ea typeface="SF Pro Display" pitchFamily="34" charset="-122"/>
                <a:cs typeface="SF Pro Display" pitchFamily="34" charset="-120"/>
              </a:rPr>
              <a:t>执行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545362" y="5099730"/>
            <a:ext cx="17007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  <a:latin typeface="SF Pro Text" pitchFamily="34" charset="0"/>
                <a:ea typeface="SF Pro Text" pitchFamily="34" charset="-122"/>
                <a:cs typeface="SF Pro Text" pitchFamily="34" charset="-120"/>
              </a:rPr>
              <a:t>复习 / 待办 / 计时</a:t>
            </a:r>
            <a:endParaRPr lang="en-US" sz="740" dirty="0"/>
          </a:p>
        </p:txBody>
      </p:sp>
      <p:sp>
        <p:nvSpPr>
          <p:cNvPr id="23" name="Shape 21"/>
          <p:cNvSpPr/>
          <p:nvPr/>
        </p:nvSpPr>
        <p:spPr>
          <a:xfrm>
            <a:off x="2422499" y="2709246"/>
            <a:ext cx="1920240" cy="82296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8E3F0">
                <a:alpha val="80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93A4B7">
                <a:alpha val="1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2559659" y="2837262"/>
            <a:ext cx="1645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40AF"/>
                </a:solidFill>
                <a:latin typeface="SF Pro Display" pitchFamily="34" charset="0"/>
                <a:ea typeface="SF Pro Display" pitchFamily="34" charset="-122"/>
                <a:cs typeface="SF Pro Display" pitchFamily="34" charset="-120"/>
              </a:rPr>
              <a:t>复盘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2532227" y="3157302"/>
            <a:ext cx="17007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  <a:latin typeface="SF Pro Text" pitchFamily="34" charset="0"/>
                <a:ea typeface="SF Pro Text" pitchFamily="34" charset="-122"/>
                <a:cs typeface="SF Pro Text" pitchFamily="34" charset="-120"/>
              </a:rPr>
              <a:t>报告 / PDF / Widget</a:t>
            </a:r>
            <a:endParaRPr lang="en-US" sz="740" dirty="0"/>
          </a:p>
        </p:txBody>
      </p:sp>
      <p:sp>
        <p:nvSpPr>
          <p:cNvPr id="26" name="Shape 24"/>
          <p:cNvSpPr/>
          <p:nvPr/>
        </p:nvSpPr>
        <p:spPr>
          <a:xfrm>
            <a:off x="5029200" y="2944368"/>
            <a:ext cx="2011680" cy="1417320"/>
          </a:xfrm>
          <a:prstGeom prst="ellipse">
            <a:avLst/>
          </a:prstGeom>
          <a:solidFill>
            <a:srgbClr val="DBEAFE"/>
          </a:solidFill>
          <a:ln w="17780">
            <a:solidFill>
              <a:srgbClr val="1E40A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376672" y="3456432"/>
            <a:ext cx="13167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40AF"/>
                </a:solidFill>
                <a:latin typeface="SF Pro Display" pitchFamily="34" charset="0"/>
                <a:ea typeface="SF Pro Display" pitchFamily="34" charset="-122"/>
                <a:cs typeface="SF Pro Display" pitchFamily="34" charset="-120"/>
              </a:rPr>
              <a:t>学习闭环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822960" y="1627632"/>
            <a:ext cx="3246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SF Pro Display" pitchFamily="34" charset="0"/>
                <a:ea typeface="SF Pro Display" pitchFamily="34" charset="-122"/>
                <a:cs typeface="SF Pro Display" pitchFamily="34" charset="-120"/>
              </a:rPr>
              <a:t>把每天的输入变成下一步行动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841248" y="2331720"/>
            <a:ext cx="3154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SF Pro Text" pitchFamily="34" charset="0"/>
                <a:ea typeface="SF Pro Text" pitchFamily="34" charset="-122"/>
                <a:cs typeface="SF Pro Text" pitchFamily="34" charset="-120"/>
              </a:rPr>
              <a:t>面向学生的全流程：成绩、错题、考试、待办、复习。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SF Pro Text" pitchFamily="34" charset="0"/>
                <a:ea typeface="SF Pro Text" pitchFamily="34" charset="-122"/>
                <a:cs typeface="SF Pro Text" pitchFamily="34" charset="-120"/>
              </a:rPr>
              <a:t>面向身体状态的学习建议：不只看目标，也看恢复。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SF Pro Text" pitchFamily="34" charset="0"/>
                <a:ea typeface="SF Pro Text" pitchFamily="34" charset="-122"/>
                <a:cs typeface="SF Pro Text" pitchFamily="34" charset="-120"/>
              </a:rPr>
              <a:t>面向日常触达：Widget、通知、快捷指令减少打开成本。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10012680" y="6473952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b="1" dirty="0">
                <a:solidFill>
                  <a:srgbClr val="64748B"/>
                </a:solidFill>
                <a:latin typeface="SF Pro Text" pitchFamily="34" charset="0"/>
                <a:ea typeface="SF Pro Text" pitchFamily="34" charset="-122"/>
                <a:cs typeface="SF Pro Text" pitchFamily="34" charset="-120"/>
              </a:rPr>
              <a:t>StudyPulse · 03</a:t>
            </a:r>
            <a:endParaRPr lang="en-US" sz="72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61320" y="438912"/>
            <a:ext cx="54864" cy="54864"/>
          </a:xfrm>
          <a:prstGeom prst="ellipse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872216" y="438912"/>
            <a:ext cx="54864" cy="54864"/>
          </a:xfrm>
          <a:prstGeom prst="ellipse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183112" y="438912"/>
            <a:ext cx="54864" cy="54864"/>
          </a:xfrm>
          <a:prstGeom prst="ellipse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561320" y="749808"/>
            <a:ext cx="54864" cy="54864"/>
          </a:xfrm>
          <a:prstGeom prst="ellipse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872216" y="749808"/>
            <a:ext cx="54864" cy="54864"/>
          </a:xfrm>
          <a:prstGeom prst="ellipse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183112" y="749808"/>
            <a:ext cx="54864" cy="54864"/>
          </a:xfrm>
          <a:prstGeom prst="ellipse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393192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SF Pro Display" pitchFamily="34" charset="0"/>
                <a:ea typeface="SF Pro Display" pitchFamily="34" charset="-122"/>
                <a:cs typeface="SF Pro Display" pitchFamily="34" charset="-120"/>
              </a:rPr>
              <a:t>功能矩阵：学习数据 × 行动建议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612648" y="850392"/>
            <a:ext cx="80467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4748B"/>
                </a:solidFill>
                <a:latin typeface="SF Pro Text" pitchFamily="34" charset="0"/>
                <a:ea typeface="SF Pro Text" pitchFamily="34" charset="-122"/>
                <a:cs typeface="SF Pro Text" pitchFamily="34" charset="-120"/>
              </a:rPr>
              <a:t>核心能力覆盖“记录、理解、安排、复习、输出”五个阶段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94360" y="1161288"/>
            <a:ext cx="10972800" cy="0"/>
          </a:xfrm>
          <a:prstGeom prst="line">
            <a:avLst/>
          </a:prstGeom>
          <a:noFill/>
          <a:ln w="12700">
            <a:solidFill>
              <a:srgbClr val="D8E3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85800" y="1481328"/>
            <a:ext cx="3246120" cy="1078992"/>
          </a:xfrm>
          <a:prstGeom prst="roundRect">
            <a:avLst>
              <a:gd name="adj" fmla="val 10169"/>
            </a:avLst>
          </a:prstGeom>
          <a:solidFill>
            <a:srgbClr val="FFFFFF"/>
          </a:solidFill>
          <a:ln w="12700">
            <a:solidFill>
              <a:srgbClr val="D8E3F0">
                <a:alpha val="80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93A4B7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886968" y="1728216"/>
            <a:ext cx="420624" cy="420624"/>
          </a:xfrm>
          <a:prstGeom prst="roundRect">
            <a:avLst>
              <a:gd name="adj" fmla="val 19565"/>
            </a:avLst>
          </a:prstGeom>
          <a:solidFill>
            <a:srgbClr val="1E40AF"/>
          </a:solidFill>
          <a:ln w="12700">
            <a:solidFill>
              <a:srgbClr val="1E40AF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86968" y="1837944"/>
            <a:ext cx="42062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SF Pro Text" pitchFamily="34" charset="0"/>
                <a:ea typeface="SF Pro Text" pitchFamily="34" charset="-122"/>
                <a:cs typeface="SF Pro Text" pitchFamily="34" charset="-120"/>
              </a:rPr>
              <a:t>01</a:t>
            </a:r>
            <a:endParaRPr lang="en-US" sz="680" dirty="0"/>
          </a:p>
        </p:txBody>
      </p:sp>
      <p:sp>
        <p:nvSpPr>
          <p:cNvPr id="14" name="Text 12"/>
          <p:cNvSpPr/>
          <p:nvPr/>
        </p:nvSpPr>
        <p:spPr>
          <a:xfrm>
            <a:off x="1472184" y="1700784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SF Pro Display" pitchFamily="34" charset="0"/>
                <a:ea typeface="SF Pro Display" pitchFamily="34" charset="-122"/>
                <a:cs typeface="SF Pro Display" pitchFamily="34" charset="-120"/>
              </a:rPr>
              <a:t>成绩追踪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472184" y="2057400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b="1" dirty="0">
                <a:solidFill>
                  <a:srgbClr val="64748B"/>
                </a:solidFill>
                <a:latin typeface="SF Pro Text" pitchFamily="34" charset="0"/>
                <a:ea typeface="SF Pro Text" pitchFamily="34" charset="-122"/>
                <a:cs typeface="SF Pro Text" pitchFamily="34" charset="-120"/>
              </a:rPr>
              <a:t>自定义满分 / 原始分 / 排名 / 附件</a:t>
            </a:r>
            <a:endParaRPr lang="en-US" sz="760" dirty="0"/>
          </a:p>
        </p:txBody>
      </p:sp>
      <p:sp>
        <p:nvSpPr>
          <p:cNvPr id="16" name="Shape 14"/>
          <p:cNvSpPr/>
          <p:nvPr/>
        </p:nvSpPr>
        <p:spPr>
          <a:xfrm>
            <a:off x="4434840" y="1481328"/>
            <a:ext cx="3246120" cy="1078992"/>
          </a:xfrm>
          <a:prstGeom prst="roundRect">
            <a:avLst>
              <a:gd name="adj" fmla="val 10169"/>
            </a:avLst>
          </a:prstGeom>
          <a:solidFill>
            <a:srgbClr val="FFFFFF"/>
          </a:solidFill>
          <a:ln w="12700">
            <a:solidFill>
              <a:srgbClr val="D8E3F0">
                <a:alpha val="80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93A4B7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36008" y="1728216"/>
            <a:ext cx="420624" cy="420624"/>
          </a:xfrm>
          <a:prstGeom prst="roundRect">
            <a:avLst>
              <a:gd name="adj" fmla="val 19565"/>
            </a:avLst>
          </a:prstGeom>
          <a:solidFill>
            <a:srgbClr val="1E40AF"/>
          </a:solidFill>
          <a:ln w="12700">
            <a:solidFill>
              <a:srgbClr val="1E40AF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36008" y="1837944"/>
            <a:ext cx="42062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SF Pro Text" pitchFamily="34" charset="0"/>
                <a:ea typeface="SF Pro Text" pitchFamily="34" charset="-122"/>
                <a:cs typeface="SF Pro Text" pitchFamily="34" charset="-120"/>
              </a:rPr>
              <a:t>02</a:t>
            </a:r>
            <a:endParaRPr lang="en-US" sz="680" dirty="0"/>
          </a:p>
        </p:txBody>
      </p:sp>
      <p:sp>
        <p:nvSpPr>
          <p:cNvPr id="19" name="Text 17"/>
          <p:cNvSpPr/>
          <p:nvPr/>
        </p:nvSpPr>
        <p:spPr>
          <a:xfrm>
            <a:off x="5221224" y="1700784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SF Pro Display" pitchFamily="34" charset="0"/>
                <a:ea typeface="SF Pro Display" pitchFamily="34" charset="-122"/>
                <a:cs typeface="SF Pro Display" pitchFamily="34" charset="-120"/>
              </a:rPr>
              <a:t>趋势图表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221224" y="2057400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b="1" dirty="0">
                <a:solidFill>
                  <a:srgbClr val="64748B"/>
                </a:solidFill>
                <a:latin typeface="SF Pro Text" pitchFamily="34" charset="0"/>
                <a:ea typeface="SF Pro Text" pitchFamily="34" charset="-122"/>
                <a:cs typeface="SF Pro Text" pitchFamily="34" charset="-120"/>
              </a:rPr>
              <a:t>平均 / 最高 / 最低 / 关注科目</a:t>
            </a:r>
            <a:endParaRPr lang="en-US" sz="760" dirty="0"/>
          </a:p>
        </p:txBody>
      </p:sp>
      <p:sp>
        <p:nvSpPr>
          <p:cNvPr id="21" name="Shape 19"/>
          <p:cNvSpPr/>
          <p:nvPr/>
        </p:nvSpPr>
        <p:spPr>
          <a:xfrm>
            <a:off x="8183880" y="1481328"/>
            <a:ext cx="3246120" cy="1078992"/>
          </a:xfrm>
          <a:prstGeom prst="roundRect">
            <a:avLst>
              <a:gd name="adj" fmla="val 10169"/>
            </a:avLst>
          </a:prstGeom>
          <a:solidFill>
            <a:srgbClr val="FFFFFF"/>
          </a:solidFill>
          <a:ln w="12700">
            <a:solidFill>
              <a:srgbClr val="D8E3F0">
                <a:alpha val="80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93A4B7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8385048" y="1728216"/>
            <a:ext cx="420624" cy="420624"/>
          </a:xfrm>
          <a:prstGeom prst="roundRect">
            <a:avLst>
              <a:gd name="adj" fmla="val 19565"/>
            </a:avLst>
          </a:prstGeom>
          <a:solidFill>
            <a:srgbClr val="1E40AF"/>
          </a:solidFill>
          <a:ln w="12700">
            <a:solidFill>
              <a:srgbClr val="1E40AF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385048" y="1837944"/>
            <a:ext cx="42062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SF Pro Text" pitchFamily="34" charset="0"/>
                <a:ea typeface="SF Pro Text" pitchFamily="34" charset="-122"/>
                <a:cs typeface="SF Pro Text" pitchFamily="34" charset="-120"/>
              </a:rPr>
              <a:t>03</a:t>
            </a:r>
            <a:endParaRPr lang="en-US" sz="680" dirty="0"/>
          </a:p>
        </p:txBody>
      </p:sp>
      <p:sp>
        <p:nvSpPr>
          <p:cNvPr id="24" name="Text 22"/>
          <p:cNvSpPr/>
          <p:nvPr/>
        </p:nvSpPr>
        <p:spPr>
          <a:xfrm>
            <a:off x="8970264" y="1700784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SF Pro Display" pitchFamily="34" charset="0"/>
                <a:ea typeface="SF Pro Display" pitchFamily="34" charset="-122"/>
                <a:cs typeface="SF Pro Display" pitchFamily="34" charset="-120"/>
              </a:rPr>
              <a:t>错题本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970264" y="2057400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b="1" dirty="0">
                <a:solidFill>
                  <a:srgbClr val="64748B"/>
                </a:solidFill>
                <a:latin typeface="SF Pro Text" pitchFamily="34" charset="0"/>
                <a:ea typeface="SF Pro Text" pitchFamily="34" charset="-122"/>
                <a:cs typeface="SF Pro Text" pitchFamily="34" charset="-120"/>
              </a:rPr>
              <a:t>四段式内容 + 图片 + Markdown</a:t>
            </a:r>
            <a:endParaRPr lang="en-US" sz="760" dirty="0"/>
          </a:p>
        </p:txBody>
      </p:sp>
      <p:sp>
        <p:nvSpPr>
          <p:cNvPr id="26" name="Shape 24"/>
          <p:cNvSpPr/>
          <p:nvPr/>
        </p:nvSpPr>
        <p:spPr>
          <a:xfrm>
            <a:off x="685800" y="2898648"/>
            <a:ext cx="3246120" cy="1078992"/>
          </a:xfrm>
          <a:prstGeom prst="roundRect">
            <a:avLst>
              <a:gd name="adj" fmla="val 10169"/>
            </a:avLst>
          </a:prstGeom>
          <a:solidFill>
            <a:srgbClr val="FEF3C7"/>
          </a:solidFill>
          <a:ln w="12700">
            <a:solidFill>
              <a:srgbClr val="F59E0B">
                <a:alpha val="80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93A4B7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886968" y="3145536"/>
            <a:ext cx="420624" cy="420624"/>
          </a:xfrm>
          <a:prstGeom prst="roundRect">
            <a:avLst>
              <a:gd name="adj" fmla="val 19565"/>
            </a:avLst>
          </a:prstGeom>
          <a:solidFill>
            <a:srgbClr val="F59E0B"/>
          </a:solidFill>
          <a:ln w="12700">
            <a:solidFill>
              <a:srgbClr val="1E40AF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86968" y="3255264"/>
            <a:ext cx="42062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SF Pro Text" pitchFamily="34" charset="0"/>
                <a:ea typeface="SF Pro Text" pitchFamily="34" charset="-122"/>
                <a:cs typeface="SF Pro Text" pitchFamily="34" charset="-120"/>
              </a:rPr>
              <a:t>04</a:t>
            </a:r>
            <a:endParaRPr lang="en-US" sz="680" dirty="0"/>
          </a:p>
        </p:txBody>
      </p:sp>
      <p:sp>
        <p:nvSpPr>
          <p:cNvPr id="29" name="Text 27"/>
          <p:cNvSpPr/>
          <p:nvPr/>
        </p:nvSpPr>
        <p:spPr>
          <a:xfrm>
            <a:off x="1472184" y="3118104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SF Pro Display" pitchFamily="34" charset="0"/>
                <a:ea typeface="SF Pro Display" pitchFamily="34" charset="-122"/>
                <a:cs typeface="SF Pro Display" pitchFamily="34" charset="-120"/>
              </a:rPr>
              <a:t>OCR 与 PDF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472184" y="3474720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b="1" dirty="0">
                <a:solidFill>
                  <a:srgbClr val="64748B"/>
                </a:solidFill>
                <a:latin typeface="SF Pro Text" pitchFamily="34" charset="0"/>
                <a:ea typeface="SF Pro Text" pitchFamily="34" charset="-122"/>
                <a:cs typeface="SF Pro Text" pitchFamily="34" charset="-120"/>
              </a:rPr>
              <a:t>Vision 识别，一键导出错题集</a:t>
            </a:r>
            <a:endParaRPr lang="en-US" sz="760" dirty="0"/>
          </a:p>
        </p:txBody>
      </p:sp>
      <p:sp>
        <p:nvSpPr>
          <p:cNvPr id="31" name="Shape 29"/>
          <p:cNvSpPr/>
          <p:nvPr/>
        </p:nvSpPr>
        <p:spPr>
          <a:xfrm>
            <a:off x="4434840" y="2898648"/>
            <a:ext cx="3246120" cy="1078992"/>
          </a:xfrm>
          <a:prstGeom prst="roundRect">
            <a:avLst>
              <a:gd name="adj" fmla="val 10169"/>
            </a:avLst>
          </a:prstGeom>
          <a:solidFill>
            <a:srgbClr val="FFFFFF"/>
          </a:solidFill>
          <a:ln w="12700">
            <a:solidFill>
              <a:srgbClr val="D8E3F0">
                <a:alpha val="80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93A4B7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636008" y="3145536"/>
            <a:ext cx="420624" cy="420624"/>
          </a:xfrm>
          <a:prstGeom prst="roundRect">
            <a:avLst>
              <a:gd name="adj" fmla="val 19565"/>
            </a:avLst>
          </a:prstGeom>
          <a:solidFill>
            <a:srgbClr val="1E40AF"/>
          </a:solidFill>
          <a:ln w="12700">
            <a:solidFill>
              <a:srgbClr val="1E40AF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636008" y="3255264"/>
            <a:ext cx="42062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SF Pro Text" pitchFamily="34" charset="0"/>
                <a:ea typeface="SF Pro Text" pitchFamily="34" charset="-122"/>
                <a:cs typeface="SF Pro Text" pitchFamily="34" charset="-120"/>
              </a:rPr>
              <a:t>05</a:t>
            </a:r>
            <a:endParaRPr lang="en-US" sz="680" dirty="0"/>
          </a:p>
        </p:txBody>
      </p:sp>
      <p:sp>
        <p:nvSpPr>
          <p:cNvPr id="34" name="Text 32"/>
          <p:cNvSpPr/>
          <p:nvPr/>
        </p:nvSpPr>
        <p:spPr>
          <a:xfrm>
            <a:off x="5221224" y="3118104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SF Pro Display" pitchFamily="34" charset="0"/>
                <a:ea typeface="SF Pro Display" pitchFamily="34" charset="-122"/>
                <a:cs typeface="SF Pro Display" pitchFamily="34" charset="-120"/>
              </a:rPr>
              <a:t>考试管理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221224" y="3474720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b="1" dirty="0">
                <a:solidFill>
                  <a:srgbClr val="64748B"/>
                </a:solidFill>
                <a:latin typeface="SF Pro Text" pitchFamily="34" charset="0"/>
                <a:ea typeface="SF Pro Text" pitchFamily="34" charset="-122"/>
                <a:cs typeface="SF Pro Text" pitchFamily="34" charset="-120"/>
              </a:rPr>
              <a:t>单科 / 综合 / 多日 / 时间段</a:t>
            </a:r>
            <a:endParaRPr lang="en-US" sz="760" dirty="0"/>
          </a:p>
        </p:txBody>
      </p:sp>
      <p:sp>
        <p:nvSpPr>
          <p:cNvPr id="36" name="Shape 34"/>
          <p:cNvSpPr/>
          <p:nvPr/>
        </p:nvSpPr>
        <p:spPr>
          <a:xfrm>
            <a:off x="8183880" y="2898648"/>
            <a:ext cx="3246120" cy="1078992"/>
          </a:xfrm>
          <a:prstGeom prst="roundRect">
            <a:avLst>
              <a:gd name="adj" fmla="val 10169"/>
            </a:avLst>
          </a:prstGeom>
          <a:solidFill>
            <a:srgbClr val="FFFFFF"/>
          </a:solidFill>
          <a:ln w="12700">
            <a:solidFill>
              <a:srgbClr val="D8E3F0">
                <a:alpha val="80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93A4B7">
                <a:alpha val="1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8385048" y="3145536"/>
            <a:ext cx="420624" cy="420624"/>
          </a:xfrm>
          <a:prstGeom prst="roundRect">
            <a:avLst>
              <a:gd name="adj" fmla="val 19565"/>
            </a:avLst>
          </a:prstGeom>
          <a:solidFill>
            <a:srgbClr val="1E40AF"/>
          </a:solidFill>
          <a:ln w="12700">
            <a:solidFill>
              <a:srgbClr val="1E40AF">
                <a:alpha val="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385048" y="3255264"/>
            <a:ext cx="42062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SF Pro Text" pitchFamily="34" charset="0"/>
                <a:ea typeface="SF Pro Text" pitchFamily="34" charset="-122"/>
                <a:cs typeface="SF Pro Text" pitchFamily="34" charset="-120"/>
              </a:rPr>
              <a:t>06</a:t>
            </a:r>
            <a:endParaRPr lang="en-US" sz="680" dirty="0"/>
          </a:p>
        </p:txBody>
      </p:sp>
      <p:sp>
        <p:nvSpPr>
          <p:cNvPr id="39" name="Text 37"/>
          <p:cNvSpPr/>
          <p:nvPr/>
        </p:nvSpPr>
        <p:spPr>
          <a:xfrm>
            <a:off x="8970264" y="3118104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SF Pro Display" pitchFamily="34" charset="0"/>
                <a:ea typeface="SF Pro Display" pitchFamily="34" charset="-122"/>
                <a:cs typeface="SF Pro Display" pitchFamily="34" charset="-120"/>
              </a:rPr>
              <a:t>待办聚合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8970264" y="3474720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b="1" dirty="0">
                <a:solidFill>
                  <a:srgbClr val="64748B"/>
                </a:solidFill>
                <a:latin typeface="SF Pro Text" pitchFamily="34" charset="0"/>
                <a:ea typeface="SF Pro Text" pitchFamily="34" charset="-122"/>
                <a:cs typeface="SF Pro Text" pitchFamily="34" charset="-120"/>
              </a:rPr>
              <a:t>考试、作业、阅读统一列表</a:t>
            </a:r>
            <a:endParaRPr lang="en-US" sz="760" dirty="0"/>
          </a:p>
        </p:txBody>
      </p:sp>
      <p:sp>
        <p:nvSpPr>
          <p:cNvPr id="41" name="Shape 39"/>
          <p:cNvSpPr/>
          <p:nvPr/>
        </p:nvSpPr>
        <p:spPr>
          <a:xfrm>
            <a:off x="685800" y="4315968"/>
            <a:ext cx="3246120" cy="1078992"/>
          </a:xfrm>
          <a:prstGeom prst="roundRect">
            <a:avLst>
              <a:gd name="adj" fmla="val 10169"/>
            </a:avLst>
          </a:prstGeom>
          <a:solidFill>
            <a:srgbClr val="FFFFFF"/>
          </a:solidFill>
          <a:ln w="12700">
            <a:solidFill>
              <a:srgbClr val="D8E3F0">
                <a:alpha val="80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93A4B7">
                <a:alpha val="10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886968" y="4562856"/>
            <a:ext cx="420624" cy="420624"/>
          </a:xfrm>
          <a:prstGeom prst="roundRect">
            <a:avLst>
              <a:gd name="adj" fmla="val 19565"/>
            </a:avLst>
          </a:prstGeom>
          <a:solidFill>
            <a:srgbClr val="1E40AF"/>
          </a:solidFill>
          <a:ln w="12700">
            <a:solidFill>
              <a:srgbClr val="1E40AF">
                <a:alpha val="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86968" y="4672584"/>
            <a:ext cx="42062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SF Pro Text" pitchFamily="34" charset="0"/>
                <a:ea typeface="SF Pro Text" pitchFamily="34" charset="-122"/>
                <a:cs typeface="SF Pro Text" pitchFamily="34" charset="-120"/>
              </a:rPr>
              <a:t>07</a:t>
            </a:r>
            <a:endParaRPr lang="en-US" sz="680" dirty="0"/>
          </a:p>
        </p:txBody>
      </p:sp>
      <p:sp>
        <p:nvSpPr>
          <p:cNvPr id="44" name="Text 42"/>
          <p:cNvSpPr/>
          <p:nvPr/>
        </p:nvSpPr>
        <p:spPr>
          <a:xfrm>
            <a:off x="1472184" y="4535424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SF Pro Display" pitchFamily="34" charset="0"/>
                <a:ea typeface="SF Pro Display" pitchFamily="34" charset="-122"/>
                <a:cs typeface="SF Pro Display" pitchFamily="34" charset="-120"/>
              </a:rPr>
              <a:t>学习计时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1472184" y="4892040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b="1" dirty="0">
                <a:solidFill>
                  <a:srgbClr val="64748B"/>
                </a:solidFill>
                <a:latin typeface="SF Pro Text" pitchFamily="34" charset="0"/>
                <a:ea typeface="SF Pro Text" pitchFamily="34" charset="-122"/>
                <a:cs typeface="SF Pro Text" pitchFamily="34" charset="-120"/>
              </a:rPr>
              <a:t>Live Activity 与每日目标</a:t>
            </a:r>
            <a:endParaRPr lang="en-US" sz="760" dirty="0"/>
          </a:p>
        </p:txBody>
      </p:sp>
      <p:sp>
        <p:nvSpPr>
          <p:cNvPr id="46" name="Shape 44"/>
          <p:cNvSpPr/>
          <p:nvPr/>
        </p:nvSpPr>
        <p:spPr>
          <a:xfrm>
            <a:off x="4434840" y="4315968"/>
            <a:ext cx="3246120" cy="1078992"/>
          </a:xfrm>
          <a:prstGeom prst="roundRect">
            <a:avLst>
              <a:gd name="adj" fmla="val 10169"/>
            </a:avLst>
          </a:prstGeom>
          <a:solidFill>
            <a:srgbClr val="FFFFFF"/>
          </a:solidFill>
          <a:ln w="12700">
            <a:solidFill>
              <a:srgbClr val="D8E3F0">
                <a:alpha val="80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93A4B7">
                <a:alpha val="10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4636008" y="4562856"/>
            <a:ext cx="420624" cy="420624"/>
          </a:xfrm>
          <a:prstGeom prst="roundRect">
            <a:avLst>
              <a:gd name="adj" fmla="val 19565"/>
            </a:avLst>
          </a:prstGeom>
          <a:solidFill>
            <a:srgbClr val="1E40AF"/>
          </a:solidFill>
          <a:ln w="12700">
            <a:solidFill>
              <a:srgbClr val="1E40AF">
                <a:alpha val="0"/>
              </a:srgbClr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636008" y="4672584"/>
            <a:ext cx="42062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SF Pro Text" pitchFamily="34" charset="0"/>
                <a:ea typeface="SF Pro Text" pitchFamily="34" charset="-122"/>
                <a:cs typeface="SF Pro Text" pitchFamily="34" charset="-120"/>
              </a:rPr>
              <a:t>08</a:t>
            </a:r>
            <a:endParaRPr lang="en-US" sz="680" dirty="0"/>
          </a:p>
        </p:txBody>
      </p:sp>
      <p:sp>
        <p:nvSpPr>
          <p:cNvPr id="49" name="Text 47"/>
          <p:cNvSpPr/>
          <p:nvPr/>
        </p:nvSpPr>
        <p:spPr>
          <a:xfrm>
            <a:off x="5221224" y="4535424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SF Pro Display" pitchFamily="34" charset="0"/>
                <a:ea typeface="SF Pro Display" pitchFamily="34" charset="-122"/>
                <a:cs typeface="SF Pro Display" pitchFamily="34" charset="-120"/>
              </a:rPr>
              <a:t>成就系统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5221224" y="4892040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b="1" dirty="0">
                <a:solidFill>
                  <a:srgbClr val="64748B"/>
                </a:solidFill>
                <a:latin typeface="SF Pro Text" pitchFamily="34" charset="0"/>
                <a:ea typeface="SF Pro Text" pitchFamily="34" charset="-122"/>
                <a:cs typeface="SF Pro Text" pitchFamily="34" charset="-120"/>
              </a:rPr>
              <a:t>Streak、解锁提醒、目标配置</a:t>
            </a:r>
            <a:endParaRPr lang="en-US" sz="760" dirty="0"/>
          </a:p>
        </p:txBody>
      </p:sp>
      <p:sp>
        <p:nvSpPr>
          <p:cNvPr id="51" name="Shape 49"/>
          <p:cNvSpPr/>
          <p:nvPr/>
        </p:nvSpPr>
        <p:spPr>
          <a:xfrm>
            <a:off x="8183880" y="4315968"/>
            <a:ext cx="3246120" cy="1078992"/>
          </a:xfrm>
          <a:prstGeom prst="roundRect">
            <a:avLst>
              <a:gd name="adj" fmla="val 10169"/>
            </a:avLst>
          </a:prstGeom>
          <a:solidFill>
            <a:srgbClr val="FFFFFF"/>
          </a:solidFill>
          <a:ln w="12700">
            <a:solidFill>
              <a:srgbClr val="D8E3F0">
                <a:alpha val="80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93A4B7">
                <a:alpha val="10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8385048" y="4562856"/>
            <a:ext cx="420624" cy="420624"/>
          </a:xfrm>
          <a:prstGeom prst="roundRect">
            <a:avLst>
              <a:gd name="adj" fmla="val 19565"/>
            </a:avLst>
          </a:prstGeom>
          <a:solidFill>
            <a:srgbClr val="1E40AF"/>
          </a:solidFill>
          <a:ln w="12700">
            <a:solidFill>
              <a:srgbClr val="1E40AF">
                <a:alpha val="0"/>
              </a:srgbClr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8385048" y="4672584"/>
            <a:ext cx="42062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SF Pro Text" pitchFamily="34" charset="0"/>
                <a:ea typeface="SF Pro Text" pitchFamily="34" charset="-122"/>
                <a:cs typeface="SF Pro Text" pitchFamily="34" charset="-120"/>
              </a:rPr>
              <a:t>09</a:t>
            </a:r>
            <a:endParaRPr lang="en-US" sz="680" dirty="0"/>
          </a:p>
        </p:txBody>
      </p:sp>
      <p:sp>
        <p:nvSpPr>
          <p:cNvPr id="54" name="Text 52"/>
          <p:cNvSpPr/>
          <p:nvPr/>
        </p:nvSpPr>
        <p:spPr>
          <a:xfrm>
            <a:off x="8970264" y="4535424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SF Pro Display" pitchFamily="34" charset="0"/>
                <a:ea typeface="SF Pro Display" pitchFamily="34" charset="-122"/>
                <a:cs typeface="SF Pro Display" pitchFamily="34" charset="-120"/>
              </a:rPr>
              <a:t>系统入口</a:t>
            </a:r>
            <a:endParaRPr lang="en-US" sz="1200" dirty="0"/>
          </a:p>
        </p:txBody>
      </p:sp>
      <p:sp>
        <p:nvSpPr>
          <p:cNvPr id="55" name="Text 53"/>
          <p:cNvSpPr/>
          <p:nvPr/>
        </p:nvSpPr>
        <p:spPr>
          <a:xfrm>
            <a:off x="8970264" y="4892040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b="1" dirty="0">
                <a:solidFill>
                  <a:srgbClr val="64748B"/>
                </a:solidFill>
                <a:latin typeface="SF Pro Text" pitchFamily="34" charset="0"/>
                <a:ea typeface="SF Pro Text" pitchFamily="34" charset="-122"/>
                <a:cs typeface="SF Pro Text" pitchFamily="34" charset="-120"/>
              </a:rPr>
              <a:t>Widget、App Intents、快捷指令</a:t>
            </a:r>
            <a:endParaRPr lang="en-US" sz="760" dirty="0"/>
          </a:p>
        </p:txBody>
      </p:sp>
      <p:sp>
        <p:nvSpPr>
          <p:cNvPr id="56" name="Text 54"/>
          <p:cNvSpPr/>
          <p:nvPr/>
        </p:nvSpPr>
        <p:spPr>
          <a:xfrm>
            <a:off x="10012680" y="6473952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b="1" dirty="0">
                <a:solidFill>
                  <a:srgbClr val="64748B"/>
                </a:solidFill>
                <a:latin typeface="SF Pro Text" pitchFamily="34" charset="0"/>
                <a:ea typeface="SF Pro Text" pitchFamily="34" charset="-122"/>
                <a:cs typeface="SF Pro Text" pitchFamily="34" charset="-120"/>
              </a:rPr>
              <a:t>StudyPulse · 04</a:t>
            </a:r>
            <a:endParaRPr lang="en-US" sz="72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61320" y="438912"/>
            <a:ext cx="54864" cy="54864"/>
          </a:xfrm>
          <a:prstGeom prst="ellipse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872216" y="438912"/>
            <a:ext cx="54864" cy="54864"/>
          </a:xfrm>
          <a:prstGeom prst="ellipse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183112" y="438912"/>
            <a:ext cx="54864" cy="54864"/>
          </a:xfrm>
          <a:prstGeom prst="ellipse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561320" y="749808"/>
            <a:ext cx="54864" cy="54864"/>
          </a:xfrm>
          <a:prstGeom prst="ellipse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872216" y="749808"/>
            <a:ext cx="54864" cy="54864"/>
          </a:xfrm>
          <a:prstGeom prst="ellipse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183112" y="749808"/>
            <a:ext cx="54864" cy="54864"/>
          </a:xfrm>
          <a:prstGeom prst="ellipse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393192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SF Pro Display" pitchFamily="34" charset="0"/>
                <a:ea typeface="SF Pro Display" pitchFamily="34" charset="-122"/>
                <a:cs typeface="SF Pro Display" pitchFamily="34" charset="-120"/>
              </a:rPr>
              <a:t>关键数字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612648" y="850392"/>
            <a:ext cx="80467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4748B"/>
                </a:solidFill>
                <a:latin typeface="SF Pro Text" pitchFamily="34" charset="0"/>
                <a:ea typeface="SF Pro Text" pitchFamily="34" charset="-122"/>
                <a:cs typeface="SF Pro Text" pitchFamily="34" charset="-120"/>
              </a:rPr>
              <a:t>用数字看项目规模、覆盖范围与工程复杂度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94360" y="1161288"/>
            <a:ext cx="10972800" cy="0"/>
          </a:xfrm>
          <a:prstGeom prst="line">
            <a:avLst/>
          </a:prstGeom>
          <a:noFill/>
          <a:ln w="12700">
            <a:solidFill>
              <a:srgbClr val="D8E3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49808" y="1508760"/>
            <a:ext cx="1874520" cy="1225296"/>
          </a:xfrm>
          <a:prstGeom prst="roundRect">
            <a:avLst>
              <a:gd name="adj" fmla="val 8955"/>
            </a:avLst>
          </a:prstGeom>
          <a:solidFill>
            <a:srgbClr val="FFFFFF"/>
          </a:solidFill>
          <a:ln w="12700">
            <a:solidFill>
              <a:srgbClr val="D8E3F0">
                <a:alpha val="80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93A4B7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914400" y="1664208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59E0B"/>
                </a:solidFill>
                <a:latin typeface="SF Pro Display" pitchFamily="34" charset="0"/>
                <a:ea typeface="SF Pro Display" pitchFamily="34" charset="-122"/>
                <a:cs typeface="SF Pro Display" pitchFamily="34" charset="-120"/>
              </a:rPr>
              <a:t>131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932688" y="2148840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SF Pro Text" pitchFamily="34" charset="0"/>
                <a:ea typeface="SF Pro Text" pitchFamily="34" charset="-122"/>
                <a:cs typeface="SF Pro Text" pitchFamily="34" charset="-120"/>
              </a:rPr>
              <a:t>Swift 文件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932688" y="2404872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b="1" dirty="0">
                <a:solidFill>
                  <a:srgbClr val="64748B"/>
                </a:solidFill>
                <a:latin typeface="SF Pro Text" pitchFamily="34" charset="0"/>
                <a:ea typeface="SF Pro Text" pitchFamily="34" charset="-122"/>
                <a:cs typeface="SF Pro Text" pitchFamily="34" charset="-120"/>
              </a:rPr>
              <a:t>主应用源码结构</a:t>
            </a:r>
            <a:endParaRPr lang="en-US" sz="760" dirty="0"/>
          </a:p>
        </p:txBody>
      </p:sp>
      <p:sp>
        <p:nvSpPr>
          <p:cNvPr id="15" name="Shape 13"/>
          <p:cNvSpPr/>
          <p:nvPr/>
        </p:nvSpPr>
        <p:spPr>
          <a:xfrm>
            <a:off x="2880360" y="1508760"/>
            <a:ext cx="1874520" cy="1225296"/>
          </a:xfrm>
          <a:prstGeom prst="roundRect">
            <a:avLst>
              <a:gd name="adj" fmla="val 8955"/>
            </a:avLst>
          </a:prstGeom>
          <a:solidFill>
            <a:srgbClr val="FFFFFF"/>
          </a:solidFill>
          <a:ln w="12700">
            <a:solidFill>
              <a:srgbClr val="D8E3F0">
                <a:alpha val="80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93A4B7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044952" y="1664208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59E0B"/>
                </a:solidFill>
                <a:latin typeface="SF Pro Display" pitchFamily="34" charset="0"/>
                <a:ea typeface="SF Pro Display" pitchFamily="34" charset="-122"/>
                <a:cs typeface="SF Pro Display" pitchFamily="34" charset="-120"/>
              </a:rPr>
              <a:t>33,576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3063240" y="2148840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SF Pro Text" pitchFamily="34" charset="0"/>
                <a:ea typeface="SF Pro Text" pitchFamily="34" charset="-122"/>
                <a:cs typeface="SF Pro Text" pitchFamily="34" charset="-120"/>
              </a:rPr>
              <a:t>Swift 代码行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063240" y="2404872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b="1" dirty="0">
                <a:solidFill>
                  <a:srgbClr val="64748B"/>
                </a:solidFill>
                <a:latin typeface="SF Pro Text" pitchFamily="34" charset="0"/>
                <a:ea typeface="SF Pro Text" pitchFamily="34" charset="-122"/>
                <a:cs typeface="SF Pro Text" pitchFamily="34" charset="-120"/>
              </a:rPr>
              <a:t>不含 vendored 包</a:t>
            </a:r>
            <a:endParaRPr lang="en-US" sz="760" dirty="0"/>
          </a:p>
        </p:txBody>
      </p:sp>
      <p:sp>
        <p:nvSpPr>
          <p:cNvPr id="19" name="Shape 17"/>
          <p:cNvSpPr/>
          <p:nvPr/>
        </p:nvSpPr>
        <p:spPr>
          <a:xfrm>
            <a:off x="5010912" y="1508760"/>
            <a:ext cx="1874520" cy="1225296"/>
          </a:xfrm>
          <a:prstGeom prst="roundRect">
            <a:avLst>
              <a:gd name="adj" fmla="val 8955"/>
            </a:avLst>
          </a:prstGeom>
          <a:solidFill>
            <a:srgbClr val="FFFFFF"/>
          </a:solidFill>
          <a:ln w="12700">
            <a:solidFill>
              <a:srgbClr val="D8E3F0">
                <a:alpha val="80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93A4B7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175504" y="1664208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E40AF"/>
                </a:solidFill>
                <a:latin typeface="SF Pro Display" pitchFamily="34" charset="0"/>
                <a:ea typeface="SF Pro Display" pitchFamily="34" charset="-122"/>
                <a:cs typeface="SF Pro Display" pitchFamily="34" charset="-120"/>
              </a:rPr>
              <a:t>72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5193792" y="2148840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SF Pro Text" pitchFamily="34" charset="0"/>
                <a:ea typeface="SF Pro Text" pitchFamily="34" charset="-122"/>
                <a:cs typeface="SF Pro Text" pitchFamily="34" charset="-120"/>
              </a:rPr>
              <a:t>视图文件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193792" y="2404872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b="1" dirty="0">
                <a:solidFill>
                  <a:srgbClr val="64748B"/>
                </a:solidFill>
                <a:latin typeface="SF Pro Text" pitchFamily="34" charset="0"/>
                <a:ea typeface="SF Pro Text" pitchFamily="34" charset="-122"/>
                <a:cs typeface="SF Pro Text" pitchFamily="34" charset="-120"/>
              </a:rPr>
              <a:t>SwiftUI 页面与组件</a:t>
            </a:r>
            <a:endParaRPr lang="en-US" sz="760" dirty="0"/>
          </a:p>
        </p:txBody>
      </p:sp>
      <p:sp>
        <p:nvSpPr>
          <p:cNvPr id="23" name="Shape 21"/>
          <p:cNvSpPr/>
          <p:nvPr/>
        </p:nvSpPr>
        <p:spPr>
          <a:xfrm>
            <a:off x="7141464" y="1508760"/>
            <a:ext cx="1874520" cy="1225296"/>
          </a:xfrm>
          <a:prstGeom prst="roundRect">
            <a:avLst>
              <a:gd name="adj" fmla="val 8955"/>
            </a:avLst>
          </a:prstGeom>
          <a:solidFill>
            <a:srgbClr val="FFFFFF"/>
          </a:solidFill>
          <a:ln w="12700">
            <a:solidFill>
              <a:srgbClr val="D8E3F0">
                <a:alpha val="80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93A4B7">
                <a:alpha val="1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7306056" y="1664208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E40AF"/>
                </a:solidFill>
                <a:latin typeface="SF Pro Display" pitchFamily="34" charset="0"/>
                <a:ea typeface="SF Pro Display" pitchFamily="34" charset="-122"/>
                <a:cs typeface="SF Pro Display" pitchFamily="34" charset="-120"/>
              </a:rPr>
              <a:t>33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7324344" y="2148840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SF Pro Text" pitchFamily="34" charset="0"/>
                <a:ea typeface="SF Pro Text" pitchFamily="34" charset="-122"/>
                <a:cs typeface="SF Pro Text" pitchFamily="34" charset="-120"/>
              </a:rPr>
              <a:t>管理器文件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7324344" y="2404872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b="1" dirty="0">
                <a:solidFill>
                  <a:srgbClr val="64748B"/>
                </a:solidFill>
                <a:latin typeface="SF Pro Text" pitchFamily="34" charset="0"/>
                <a:ea typeface="SF Pro Text" pitchFamily="34" charset="-122"/>
                <a:cs typeface="SF Pro Text" pitchFamily="34" charset="-120"/>
              </a:rPr>
              <a:t>业务与系统集成</a:t>
            </a:r>
            <a:endParaRPr lang="en-US" sz="760" dirty="0"/>
          </a:p>
        </p:txBody>
      </p:sp>
      <p:sp>
        <p:nvSpPr>
          <p:cNvPr id="27" name="Shape 25"/>
          <p:cNvSpPr/>
          <p:nvPr/>
        </p:nvSpPr>
        <p:spPr>
          <a:xfrm>
            <a:off x="9272016" y="1508760"/>
            <a:ext cx="1874520" cy="1225296"/>
          </a:xfrm>
          <a:prstGeom prst="roundRect">
            <a:avLst>
              <a:gd name="adj" fmla="val 8955"/>
            </a:avLst>
          </a:prstGeom>
          <a:solidFill>
            <a:srgbClr val="FFFFFF"/>
          </a:solidFill>
          <a:ln w="12700">
            <a:solidFill>
              <a:srgbClr val="D8E3F0">
                <a:alpha val="80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93A4B7">
                <a:alpha val="1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9436608" y="1664208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1E40AF"/>
                </a:solidFill>
                <a:latin typeface="SF Pro Display" pitchFamily="34" charset="0"/>
                <a:ea typeface="SF Pro Display" pitchFamily="34" charset="-122"/>
                <a:cs typeface="SF Pro Display" pitchFamily="34" charset="-120"/>
              </a:rPr>
              <a:t>11</a:t>
            </a:r>
            <a:endParaRPr lang="en-US" sz="2400" dirty="0"/>
          </a:p>
        </p:txBody>
      </p:sp>
      <p:sp>
        <p:nvSpPr>
          <p:cNvPr id="29" name="Text 27"/>
          <p:cNvSpPr/>
          <p:nvPr/>
        </p:nvSpPr>
        <p:spPr>
          <a:xfrm>
            <a:off x="9454896" y="2148840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172A"/>
                </a:solidFill>
                <a:latin typeface="SF Pro Text" pitchFamily="34" charset="0"/>
                <a:ea typeface="SF Pro Text" pitchFamily="34" charset="-122"/>
                <a:cs typeface="SF Pro Text" pitchFamily="34" charset="-120"/>
              </a:rPr>
              <a:t>模型文件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9454896" y="2404872"/>
            <a:ext cx="1508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60" b="1" dirty="0">
                <a:solidFill>
                  <a:srgbClr val="64748B"/>
                </a:solidFill>
                <a:latin typeface="SF Pro Text" pitchFamily="34" charset="0"/>
                <a:ea typeface="SF Pro Text" pitchFamily="34" charset="-122"/>
                <a:cs typeface="SF Pro Text" pitchFamily="34" charset="-120"/>
              </a:rPr>
              <a:t>快照 + SwiftData</a:t>
            </a:r>
            <a:endParaRPr lang="en-US" sz="760" dirty="0"/>
          </a:p>
        </p:txBody>
      </p:sp>
      <p:sp>
        <p:nvSpPr>
          <p:cNvPr id="31" name="Shape 29"/>
          <p:cNvSpPr/>
          <p:nvPr/>
        </p:nvSpPr>
        <p:spPr>
          <a:xfrm>
            <a:off x="749808" y="3273552"/>
            <a:ext cx="466344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8E3F0">
                <a:alpha val="80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93A4B7">
                <a:alpha val="10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1024128" y="354787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SF Pro Display" pitchFamily="34" charset="0"/>
                <a:ea typeface="SF Pro Display" pitchFamily="34" charset="-122"/>
                <a:cs typeface="SF Pro Display" pitchFamily="34" charset="-120"/>
              </a:rPr>
              <a:t>能力覆盖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1033272" y="3986784"/>
            <a:ext cx="3977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SF Pro Text" pitchFamily="34" charset="0"/>
                <a:ea typeface="SF Pro Text" pitchFamily="34" charset="-122"/>
                <a:cs typeface="SF Pro Text" pitchFamily="34" charset="-120"/>
              </a:rPr>
              <a:t>5 个主 Tab：Home / Trends / Mistakes / Todo / Settings。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SF Pro Text" pitchFamily="34" charset="0"/>
                <a:ea typeface="SF Pro Text" pitchFamily="34" charset="-122"/>
                <a:cs typeface="SF Pro Text" pitchFamily="34" charset="-120"/>
              </a:rPr>
              <a:t>5 套本地化：英语、简中、繁中、日语、韩语。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SF Pro Text" pitchFamily="34" charset="0"/>
                <a:ea typeface="SF Pro Text" pitchFamily="34" charset="-122"/>
                <a:cs typeface="SF Pro Text" pitchFamily="34" charset="-120"/>
              </a:rPr>
              <a:t>15+ 教育体系：国内、IB、AP、A-Level、SAT/ACT 等。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806440" y="3273552"/>
            <a:ext cx="5340096" cy="1920240"/>
          </a:xfrm>
          <a:prstGeom prst="roundRect">
            <a:avLst>
              <a:gd name="adj" fmla="val 5714"/>
            </a:avLst>
          </a:prstGeom>
          <a:solidFill>
            <a:srgbClr val="0F172A"/>
          </a:solidFill>
          <a:ln w="12700">
            <a:solidFill>
              <a:srgbClr val="0F172A">
                <a:alpha val="80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93A4B7">
                <a:alpha val="10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6126480" y="3547872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F Pro Display" pitchFamily="34" charset="0"/>
                <a:ea typeface="SF Pro Display" pitchFamily="34" charset="-122"/>
                <a:cs typeface="SF Pro Display" pitchFamily="34" charset="-120"/>
              </a:rPr>
              <a:t>系统触达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6144768" y="3950208"/>
            <a:ext cx="5669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9E0B"/>
                </a:solidFill>
                <a:latin typeface="SF Pro Display" pitchFamily="34" charset="0"/>
                <a:ea typeface="SF Pro Display" pitchFamily="34" charset="-122"/>
                <a:cs typeface="SF Pro Display" pitchFamily="34" charset="-120"/>
              </a:rPr>
              <a:t>4</a:t>
            </a:r>
            <a:endParaRPr lang="en-US" sz="2800" dirty="0"/>
          </a:p>
        </p:txBody>
      </p:sp>
      <p:sp>
        <p:nvSpPr>
          <p:cNvPr id="37" name="Text 35"/>
          <p:cNvSpPr/>
          <p:nvPr/>
        </p:nvSpPr>
        <p:spPr>
          <a:xfrm>
            <a:off x="6748272" y="406908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2E8F0"/>
                </a:solidFill>
                <a:latin typeface="SF Pro Text" pitchFamily="34" charset="0"/>
                <a:ea typeface="SF Pro Text" pitchFamily="34" charset="-122"/>
                <a:cs typeface="SF Pro Text" pitchFamily="34" charset="-120"/>
              </a:rPr>
              <a:t>个桌面/系统入口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6144768" y="4626864"/>
            <a:ext cx="4389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CBD5E1"/>
                </a:solidFill>
                <a:latin typeface="SF Pro Text" pitchFamily="34" charset="0"/>
                <a:ea typeface="SF Pro Text" pitchFamily="34" charset="-122"/>
                <a:cs typeface="SF Pro Text" pitchFamily="34" charset="-120"/>
              </a:rPr>
              <a:t>ExamWidget、TrendWidget、HRVWidget、StudyTimer Live Activity</a:t>
            </a:r>
            <a:endParaRPr lang="en-US" sz="820" dirty="0"/>
          </a:p>
        </p:txBody>
      </p:sp>
      <p:sp>
        <p:nvSpPr>
          <p:cNvPr id="39" name="Text 37"/>
          <p:cNvSpPr/>
          <p:nvPr/>
        </p:nvSpPr>
        <p:spPr>
          <a:xfrm>
            <a:off x="10012680" y="6473952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b="1" dirty="0">
                <a:solidFill>
                  <a:srgbClr val="64748B"/>
                </a:solidFill>
                <a:latin typeface="SF Pro Text" pitchFamily="34" charset="0"/>
                <a:ea typeface="SF Pro Text" pitchFamily="34" charset="-122"/>
                <a:cs typeface="SF Pro Text" pitchFamily="34" charset="-120"/>
              </a:rPr>
              <a:t>StudyPulse · 05</a:t>
            </a:r>
            <a:endParaRPr lang="en-US" sz="72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61320" y="438912"/>
            <a:ext cx="54864" cy="54864"/>
          </a:xfrm>
          <a:prstGeom prst="ellipse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872216" y="438912"/>
            <a:ext cx="54864" cy="54864"/>
          </a:xfrm>
          <a:prstGeom prst="ellipse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183112" y="438912"/>
            <a:ext cx="54864" cy="54864"/>
          </a:xfrm>
          <a:prstGeom prst="ellipse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561320" y="749808"/>
            <a:ext cx="54864" cy="54864"/>
          </a:xfrm>
          <a:prstGeom prst="ellipse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872216" y="749808"/>
            <a:ext cx="54864" cy="54864"/>
          </a:xfrm>
          <a:prstGeom prst="ellipse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183112" y="749808"/>
            <a:ext cx="54864" cy="54864"/>
          </a:xfrm>
          <a:prstGeom prst="ellipse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393192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SF Pro Display" pitchFamily="34" charset="0"/>
                <a:ea typeface="SF Pro Display" pitchFamily="34" charset="-122"/>
                <a:cs typeface="SF Pro Display" pitchFamily="34" charset="-120"/>
              </a:rPr>
              <a:t>截图占位：主界面与数据仪表盘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612648" y="850392"/>
            <a:ext cx="80467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4748B"/>
                </a:solidFill>
                <a:latin typeface="SF Pro Text" pitchFamily="34" charset="0"/>
                <a:ea typeface="SF Pro Text" pitchFamily="34" charset="-122"/>
                <a:cs typeface="SF Pro Text" pitchFamily="34" charset="-120"/>
              </a:rPr>
              <a:t>这里不伪造界面，保留后续替换真实截图的位置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94360" y="1161288"/>
            <a:ext cx="10972800" cy="0"/>
          </a:xfrm>
          <a:prstGeom prst="line">
            <a:avLst/>
          </a:prstGeom>
          <a:noFill/>
          <a:ln w="12700">
            <a:solidFill>
              <a:srgbClr val="D8E3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49808" y="1417320"/>
            <a:ext cx="2331720" cy="4251960"/>
          </a:xfrm>
          <a:prstGeom prst="roundRect">
            <a:avLst>
              <a:gd name="adj" fmla="val 6275"/>
            </a:avLst>
          </a:prstGeom>
          <a:solidFill>
            <a:srgbClr val="FFFFFF"/>
          </a:solidFill>
          <a:ln w="16510">
            <a:solidFill>
              <a:srgbClr val="1E40A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96112" y="1581912"/>
            <a:ext cx="2039112" cy="3922776"/>
          </a:xfrm>
          <a:prstGeom prst="roundRect">
            <a:avLst>
              <a:gd name="adj" fmla="val 5830"/>
            </a:avLst>
          </a:prstGeom>
          <a:solidFill>
            <a:srgbClr val="F8FAFC"/>
          </a:solidFill>
          <a:ln w="10160">
            <a:solidFill>
              <a:srgbClr val="D8E3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78408" y="3378708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40AF"/>
                </a:solidFill>
                <a:latin typeface="SF Pro Display" pitchFamily="34" charset="0"/>
                <a:ea typeface="SF Pro Display" pitchFamily="34" charset="-122"/>
                <a:cs typeface="SF Pro Display" pitchFamily="34" charset="-120"/>
              </a:rPr>
              <a:t>Home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978408" y="3689604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  <a:latin typeface="SF Pro Text" pitchFamily="34" charset="0"/>
                <a:ea typeface="SF Pro Text" pitchFamily="34" charset="-122"/>
                <a:cs typeface="SF Pro Text" pitchFamily="34" charset="-120"/>
              </a:rPr>
              <a:t>主页仪表盘</a:t>
            </a:r>
            <a:endParaRPr lang="en-US" sz="740" dirty="0"/>
          </a:p>
        </p:txBody>
      </p:sp>
      <p:sp>
        <p:nvSpPr>
          <p:cNvPr id="15" name="Shape 13"/>
          <p:cNvSpPr/>
          <p:nvPr/>
        </p:nvSpPr>
        <p:spPr>
          <a:xfrm>
            <a:off x="3493008" y="1417320"/>
            <a:ext cx="2331720" cy="4251960"/>
          </a:xfrm>
          <a:prstGeom prst="roundRect">
            <a:avLst>
              <a:gd name="adj" fmla="val 6275"/>
            </a:avLst>
          </a:prstGeom>
          <a:solidFill>
            <a:srgbClr val="FFFFFF"/>
          </a:solidFill>
          <a:ln w="16510">
            <a:solidFill>
              <a:srgbClr val="1E40A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39312" y="1581912"/>
            <a:ext cx="2039112" cy="3922776"/>
          </a:xfrm>
          <a:prstGeom prst="roundRect">
            <a:avLst>
              <a:gd name="adj" fmla="val 5830"/>
            </a:avLst>
          </a:prstGeom>
          <a:solidFill>
            <a:srgbClr val="F8FAFC"/>
          </a:solidFill>
          <a:ln w="10160">
            <a:solidFill>
              <a:srgbClr val="D8E3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721608" y="3378708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40AF"/>
                </a:solidFill>
                <a:latin typeface="SF Pro Display" pitchFamily="34" charset="0"/>
                <a:ea typeface="SF Pro Display" pitchFamily="34" charset="-122"/>
                <a:cs typeface="SF Pro Display" pitchFamily="34" charset="-120"/>
              </a:rPr>
              <a:t>Trends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721608" y="3689604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  <a:latin typeface="SF Pro Text" pitchFamily="34" charset="0"/>
                <a:ea typeface="SF Pro Text" pitchFamily="34" charset="-122"/>
                <a:cs typeface="SF Pro Text" pitchFamily="34" charset="-120"/>
              </a:rPr>
              <a:t>成绩趋势图</a:t>
            </a:r>
            <a:endParaRPr lang="en-US" sz="740" dirty="0"/>
          </a:p>
        </p:txBody>
      </p:sp>
      <p:sp>
        <p:nvSpPr>
          <p:cNvPr id="19" name="Shape 17"/>
          <p:cNvSpPr/>
          <p:nvPr/>
        </p:nvSpPr>
        <p:spPr>
          <a:xfrm>
            <a:off x="6236208" y="1417320"/>
            <a:ext cx="2331720" cy="4251960"/>
          </a:xfrm>
          <a:prstGeom prst="roundRect">
            <a:avLst>
              <a:gd name="adj" fmla="val 6275"/>
            </a:avLst>
          </a:prstGeom>
          <a:solidFill>
            <a:srgbClr val="FFFFFF"/>
          </a:solidFill>
          <a:ln w="16510">
            <a:solidFill>
              <a:srgbClr val="1E40A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382512" y="1581912"/>
            <a:ext cx="2039112" cy="3922776"/>
          </a:xfrm>
          <a:prstGeom prst="roundRect">
            <a:avLst>
              <a:gd name="adj" fmla="val 5830"/>
            </a:avLst>
          </a:prstGeom>
          <a:solidFill>
            <a:srgbClr val="F8FAFC"/>
          </a:solidFill>
          <a:ln w="10160">
            <a:solidFill>
              <a:srgbClr val="D8E3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64808" y="3378708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40AF"/>
                </a:solidFill>
                <a:latin typeface="SF Pro Display" pitchFamily="34" charset="0"/>
                <a:ea typeface="SF Pro Display" pitchFamily="34" charset="-122"/>
                <a:cs typeface="SF Pro Display" pitchFamily="34" charset="-120"/>
              </a:rPr>
              <a:t>Mistakes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464808" y="3689604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  <a:latin typeface="SF Pro Text" pitchFamily="34" charset="0"/>
                <a:ea typeface="SF Pro Text" pitchFamily="34" charset="-122"/>
                <a:cs typeface="SF Pro Text" pitchFamily="34" charset="-120"/>
              </a:rPr>
              <a:t>错题详情 / OCR</a:t>
            </a:r>
            <a:endParaRPr lang="en-US" sz="740" dirty="0"/>
          </a:p>
        </p:txBody>
      </p:sp>
      <p:sp>
        <p:nvSpPr>
          <p:cNvPr id="23" name="Shape 21"/>
          <p:cNvSpPr/>
          <p:nvPr/>
        </p:nvSpPr>
        <p:spPr>
          <a:xfrm>
            <a:off x="8979408" y="1417320"/>
            <a:ext cx="2331720" cy="4251960"/>
          </a:xfrm>
          <a:prstGeom prst="roundRect">
            <a:avLst>
              <a:gd name="adj" fmla="val 6275"/>
            </a:avLst>
          </a:prstGeom>
          <a:solidFill>
            <a:srgbClr val="FFFFFF"/>
          </a:solidFill>
          <a:ln w="16510">
            <a:solidFill>
              <a:srgbClr val="1E40A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125712" y="1581912"/>
            <a:ext cx="2039112" cy="3922776"/>
          </a:xfrm>
          <a:prstGeom prst="roundRect">
            <a:avLst>
              <a:gd name="adj" fmla="val 5830"/>
            </a:avLst>
          </a:prstGeom>
          <a:solidFill>
            <a:srgbClr val="F8FAFC"/>
          </a:solidFill>
          <a:ln w="10160">
            <a:solidFill>
              <a:srgbClr val="D8E3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208008" y="3378708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40AF"/>
                </a:solidFill>
                <a:latin typeface="SF Pro Display" pitchFamily="34" charset="0"/>
                <a:ea typeface="SF Pro Display" pitchFamily="34" charset="-122"/>
                <a:cs typeface="SF Pro Display" pitchFamily="34" charset="-120"/>
              </a:rPr>
              <a:t>Todo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9208008" y="3689604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  <a:latin typeface="SF Pro Text" pitchFamily="34" charset="0"/>
                <a:ea typeface="SF Pro Text" pitchFamily="34" charset="-122"/>
                <a:cs typeface="SF Pro Text" pitchFamily="34" charset="-120"/>
              </a:rPr>
              <a:t>考试与作业列表</a:t>
            </a:r>
            <a:endParaRPr lang="en-US" sz="740" dirty="0"/>
          </a:p>
        </p:txBody>
      </p:sp>
      <p:sp>
        <p:nvSpPr>
          <p:cNvPr id="27" name="Text 25"/>
          <p:cNvSpPr/>
          <p:nvPr/>
        </p:nvSpPr>
        <p:spPr>
          <a:xfrm>
            <a:off x="10012680" y="6473952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b="1" dirty="0">
                <a:solidFill>
                  <a:srgbClr val="64748B"/>
                </a:solidFill>
                <a:latin typeface="SF Pro Text" pitchFamily="34" charset="0"/>
                <a:ea typeface="SF Pro Text" pitchFamily="34" charset="-122"/>
                <a:cs typeface="SF Pro Text" pitchFamily="34" charset="-120"/>
              </a:rPr>
              <a:t>StudyPulse · 06</a:t>
            </a:r>
            <a:endParaRPr lang="en-US" sz="72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61320" y="438912"/>
            <a:ext cx="54864" cy="54864"/>
          </a:xfrm>
          <a:prstGeom prst="ellipse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872216" y="438912"/>
            <a:ext cx="54864" cy="54864"/>
          </a:xfrm>
          <a:prstGeom prst="ellipse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183112" y="438912"/>
            <a:ext cx="54864" cy="54864"/>
          </a:xfrm>
          <a:prstGeom prst="ellipse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561320" y="749808"/>
            <a:ext cx="54864" cy="54864"/>
          </a:xfrm>
          <a:prstGeom prst="ellipse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872216" y="749808"/>
            <a:ext cx="54864" cy="54864"/>
          </a:xfrm>
          <a:prstGeom prst="ellipse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183112" y="749808"/>
            <a:ext cx="54864" cy="54864"/>
          </a:xfrm>
          <a:prstGeom prst="ellipse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393192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SF Pro Display" pitchFamily="34" charset="0"/>
                <a:ea typeface="SF Pro Display" pitchFamily="34" charset="-122"/>
                <a:cs typeface="SF Pro Display" pitchFamily="34" charset="-120"/>
              </a:rPr>
              <a:t>健康准备度算法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612648" y="850392"/>
            <a:ext cx="80467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4748B"/>
                </a:solidFill>
                <a:latin typeface="SF Pro Text" pitchFamily="34" charset="0"/>
                <a:ea typeface="SF Pro Text" pitchFamily="34" charset="-122"/>
                <a:cs typeface="SF Pro Text" pitchFamily="34" charset="-120"/>
              </a:rPr>
              <a:t>学习建议不只来自目标，也来自身体恢复状态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94360" y="1161288"/>
            <a:ext cx="10972800" cy="0"/>
          </a:xfrm>
          <a:prstGeom prst="line">
            <a:avLst/>
          </a:prstGeom>
          <a:noFill/>
          <a:ln w="12700">
            <a:solidFill>
              <a:srgbClr val="D8E3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86384" y="1536192"/>
            <a:ext cx="301752" cy="301752"/>
          </a:xfrm>
          <a:prstGeom prst="roundRect">
            <a:avLst>
              <a:gd name="adj" fmla="val 21212"/>
            </a:avLst>
          </a:prstGeom>
          <a:solidFill>
            <a:srgbClr val="1E40AF"/>
          </a:solidFill>
          <a:ln w="12700">
            <a:solidFill>
              <a:srgbClr val="1E40AF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07008" y="1581912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b="1" dirty="0">
                <a:solidFill>
                  <a:srgbClr val="1E40AF"/>
                </a:solidFill>
                <a:latin typeface="SF Pro Text" pitchFamily="34" charset="0"/>
                <a:ea typeface="SF Pro Text" pitchFamily="34" charset="-122"/>
                <a:cs typeface="SF Pro Text" pitchFamily="34" charset="-120"/>
              </a:rPr>
              <a:t>输入信号</a:t>
            </a:r>
            <a:endParaRPr lang="en-US" sz="870" dirty="0"/>
          </a:p>
        </p:txBody>
      </p:sp>
      <p:sp>
        <p:nvSpPr>
          <p:cNvPr id="13" name="Shape 11"/>
          <p:cNvSpPr/>
          <p:nvPr/>
        </p:nvSpPr>
        <p:spPr>
          <a:xfrm>
            <a:off x="822960" y="2057400"/>
            <a:ext cx="2606040" cy="41148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1E40AF">
                <a:alpha val="45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78408" y="2157984"/>
            <a:ext cx="6583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40AF"/>
                </a:solidFill>
                <a:latin typeface="SF Pro Display" pitchFamily="34" charset="0"/>
                <a:ea typeface="SF Pro Display" pitchFamily="34" charset="-122"/>
                <a:cs typeface="SF Pro Display" pitchFamily="34" charset="-120"/>
              </a:rPr>
              <a:t>HRV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682496" y="2157984"/>
            <a:ext cx="1417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b="1" dirty="0">
                <a:solidFill>
                  <a:srgbClr val="64748B"/>
                </a:solidFill>
                <a:latin typeface="SF Pro Text" pitchFamily="34" charset="0"/>
                <a:ea typeface="SF Pro Text" pitchFamily="34" charset="-122"/>
                <a:cs typeface="SF Pro Text" pitchFamily="34" charset="-120"/>
              </a:rPr>
              <a:t>14 天基线 + Z-score</a:t>
            </a:r>
            <a:endParaRPr lang="en-US" sz="740" dirty="0"/>
          </a:p>
        </p:txBody>
      </p:sp>
      <p:sp>
        <p:nvSpPr>
          <p:cNvPr id="16" name="Shape 14"/>
          <p:cNvSpPr/>
          <p:nvPr/>
        </p:nvSpPr>
        <p:spPr>
          <a:xfrm>
            <a:off x="822960" y="2679192"/>
            <a:ext cx="2606040" cy="41148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EF4444">
                <a:alpha val="45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78408" y="2779776"/>
            <a:ext cx="6583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F4444"/>
                </a:solidFill>
                <a:latin typeface="SF Pro Display" pitchFamily="34" charset="0"/>
                <a:ea typeface="SF Pro Display" pitchFamily="34" charset="-122"/>
                <a:cs typeface="SF Pro Display" pitchFamily="34" charset="-120"/>
              </a:rPr>
              <a:t>心率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682496" y="2779776"/>
            <a:ext cx="1417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b="1" dirty="0">
                <a:solidFill>
                  <a:srgbClr val="64748B"/>
                </a:solidFill>
                <a:latin typeface="SF Pro Text" pitchFamily="34" charset="0"/>
                <a:ea typeface="SF Pro Text" pitchFamily="34" charset="-122"/>
                <a:cs typeface="SF Pro Text" pitchFamily="34" charset="-120"/>
              </a:rPr>
              <a:t>静息 / 最新读数</a:t>
            </a:r>
            <a:endParaRPr lang="en-US" sz="740" dirty="0"/>
          </a:p>
        </p:txBody>
      </p:sp>
      <p:sp>
        <p:nvSpPr>
          <p:cNvPr id="19" name="Shape 17"/>
          <p:cNvSpPr/>
          <p:nvPr/>
        </p:nvSpPr>
        <p:spPr>
          <a:xfrm>
            <a:off x="822960" y="3300984"/>
            <a:ext cx="2606040" cy="41148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06B6D4">
                <a:alpha val="45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78408" y="3401568"/>
            <a:ext cx="6583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6B6D4"/>
                </a:solidFill>
                <a:latin typeface="SF Pro Display" pitchFamily="34" charset="0"/>
                <a:ea typeface="SF Pro Display" pitchFamily="34" charset="-122"/>
                <a:cs typeface="SF Pro Display" pitchFamily="34" charset="-120"/>
              </a:rPr>
              <a:t>呼吸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682496" y="3401568"/>
            <a:ext cx="1417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b="1" dirty="0">
                <a:solidFill>
                  <a:srgbClr val="64748B"/>
                </a:solidFill>
                <a:latin typeface="SF Pro Text" pitchFamily="34" charset="0"/>
                <a:ea typeface="SF Pro Text" pitchFamily="34" charset="-122"/>
                <a:cs typeface="SF Pro Text" pitchFamily="34" charset="-120"/>
              </a:rPr>
              <a:t>呼吸率压力信号</a:t>
            </a:r>
            <a:endParaRPr lang="en-US" sz="740" dirty="0"/>
          </a:p>
        </p:txBody>
      </p:sp>
      <p:sp>
        <p:nvSpPr>
          <p:cNvPr id="22" name="Shape 20"/>
          <p:cNvSpPr/>
          <p:nvPr/>
        </p:nvSpPr>
        <p:spPr>
          <a:xfrm>
            <a:off x="822960" y="3922776"/>
            <a:ext cx="2606040" cy="41148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8B5CF6">
                <a:alpha val="45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78408" y="4023360"/>
            <a:ext cx="6583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B5CF6"/>
                </a:solidFill>
                <a:latin typeface="SF Pro Display" pitchFamily="34" charset="0"/>
                <a:ea typeface="SF Pro Display" pitchFamily="34" charset="-122"/>
                <a:cs typeface="SF Pro Display" pitchFamily="34" charset="-120"/>
              </a:rPr>
              <a:t>睡眠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682496" y="4023360"/>
            <a:ext cx="1417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b="1" dirty="0">
                <a:solidFill>
                  <a:srgbClr val="64748B"/>
                </a:solidFill>
                <a:latin typeface="SF Pro Text" pitchFamily="34" charset="0"/>
                <a:ea typeface="SF Pro Text" pitchFamily="34" charset="-122"/>
                <a:cs typeface="SF Pro Text" pitchFamily="34" charset="-120"/>
              </a:rPr>
              <a:t>深睡 + REM</a:t>
            </a:r>
            <a:endParaRPr lang="en-US" sz="740" dirty="0"/>
          </a:p>
        </p:txBody>
      </p:sp>
      <p:sp>
        <p:nvSpPr>
          <p:cNvPr id="25" name="Shape 23"/>
          <p:cNvSpPr/>
          <p:nvPr/>
        </p:nvSpPr>
        <p:spPr>
          <a:xfrm>
            <a:off x="822960" y="4544568"/>
            <a:ext cx="2606040" cy="411480"/>
          </a:xfrm>
          <a:prstGeom prst="roundRect">
            <a:avLst>
              <a:gd name="adj" fmla="val 17778"/>
            </a:avLst>
          </a:prstGeom>
          <a:solidFill>
            <a:srgbClr val="FFFFFF"/>
          </a:solidFill>
          <a:ln w="12700">
            <a:solidFill>
              <a:srgbClr val="10B981">
                <a:alpha val="45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78408" y="4645152"/>
            <a:ext cx="6583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SF Pro Display" pitchFamily="34" charset="0"/>
                <a:ea typeface="SF Pro Display" pitchFamily="34" charset="-122"/>
                <a:cs typeface="SF Pro Display" pitchFamily="34" charset="-120"/>
              </a:rPr>
              <a:t>锻炼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682496" y="4645152"/>
            <a:ext cx="1417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b="1" dirty="0">
                <a:solidFill>
                  <a:srgbClr val="64748B"/>
                </a:solidFill>
                <a:latin typeface="SF Pro Text" pitchFamily="34" charset="0"/>
                <a:ea typeface="SF Pro Text" pitchFamily="34" charset="-122"/>
                <a:cs typeface="SF Pro Text" pitchFamily="34" charset="-120"/>
              </a:rPr>
              <a:t>Apple Exercise Time</a:t>
            </a:r>
            <a:endParaRPr lang="en-US" sz="740" dirty="0"/>
          </a:p>
        </p:txBody>
      </p:sp>
      <p:sp>
        <p:nvSpPr>
          <p:cNvPr id="28" name="Shape 26"/>
          <p:cNvSpPr/>
          <p:nvPr/>
        </p:nvSpPr>
        <p:spPr>
          <a:xfrm>
            <a:off x="4069080" y="1572768"/>
            <a:ext cx="3429000" cy="3337560"/>
          </a:xfrm>
          <a:prstGeom prst="roundRect">
            <a:avLst>
              <a:gd name="adj" fmla="val 3288"/>
            </a:avLst>
          </a:prstGeom>
          <a:solidFill>
            <a:srgbClr val="0F172A"/>
          </a:solidFill>
          <a:ln w="12700">
            <a:solidFill>
              <a:srgbClr val="0F172A">
                <a:alpha val="80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93A4B7">
                <a:alpha val="1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370832" y="184708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F Pro Display" pitchFamily="34" charset="0"/>
                <a:ea typeface="SF Pro Display" pitchFamily="34" charset="-122"/>
                <a:cs typeface="SF Pro Display" pitchFamily="34" charset="-120"/>
              </a:rPr>
              <a:t>个性化校准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4370832" y="2450592"/>
            <a:ext cx="713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59E0B"/>
                </a:solidFill>
                <a:latin typeface="SF Pro Display" pitchFamily="34" charset="0"/>
                <a:ea typeface="SF Pro Display" pitchFamily="34" charset="-122"/>
                <a:cs typeface="SF Pro Display" pitchFamily="34" charset="-120"/>
              </a:rPr>
              <a:t>30</a:t>
            </a:r>
            <a:endParaRPr lang="en-US" sz="3000" dirty="0"/>
          </a:p>
        </p:txBody>
      </p:sp>
      <p:sp>
        <p:nvSpPr>
          <p:cNvPr id="31" name="Text 29"/>
          <p:cNvSpPr/>
          <p:nvPr/>
        </p:nvSpPr>
        <p:spPr>
          <a:xfrm>
            <a:off x="5157216" y="2615184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2E8F0"/>
                </a:solidFill>
                <a:latin typeface="SF Pro Text" pitchFamily="34" charset="0"/>
                <a:ea typeface="SF Pro Text" pitchFamily="34" charset="-122"/>
                <a:cs typeface="SF Pro Text" pitchFamily="34" charset="-120"/>
              </a:rPr>
              <a:t>天个人基线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389120" y="3255264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CBD5E1"/>
                </a:solidFill>
                <a:latin typeface="SF Pro Text" pitchFamily="34" charset="0"/>
                <a:ea typeface="SF Pro Text" pitchFamily="34" charset="-122"/>
                <a:cs typeface="SF Pro Text" pitchFamily="34" charset="-120"/>
              </a:rPr>
              <a:t>当个人样本不足时，回退到年龄参考范围，避免冷启动无建议。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370832" y="4041648"/>
            <a:ext cx="102412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9E0B"/>
                </a:solidFill>
                <a:latin typeface="SF Pro Display" pitchFamily="34" charset="0"/>
                <a:ea typeface="SF Pro Display" pitchFamily="34" charset="-122"/>
                <a:cs typeface="SF Pro Display" pitchFamily="34" charset="-120"/>
              </a:rPr>
              <a:t>5 × 5</a:t>
            </a:r>
            <a:endParaRPr lang="en-US" sz="2800" dirty="0"/>
          </a:p>
        </p:txBody>
      </p:sp>
      <p:sp>
        <p:nvSpPr>
          <p:cNvPr id="34" name="Text 32"/>
          <p:cNvSpPr/>
          <p:nvPr/>
        </p:nvSpPr>
        <p:spPr>
          <a:xfrm>
            <a:off x="5468112" y="4187952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2E8F0"/>
                </a:solidFill>
                <a:latin typeface="SF Pro Text" pitchFamily="34" charset="0"/>
                <a:ea typeface="SF Pro Text" pitchFamily="34" charset="-122"/>
                <a:cs typeface="SF Pro Text" pitchFamily="34" charset="-120"/>
              </a:rPr>
              <a:t>强度 × 重点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8229600" y="1536192"/>
            <a:ext cx="301752" cy="301752"/>
          </a:xfrm>
          <a:prstGeom prst="roundRect">
            <a:avLst>
              <a:gd name="adj" fmla="val 21212"/>
            </a:avLst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650224" y="1581912"/>
            <a:ext cx="2560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70" b="1" dirty="0">
                <a:solidFill>
                  <a:srgbClr val="F59E0B"/>
                </a:solidFill>
                <a:latin typeface="SF Pro Text" pitchFamily="34" charset="0"/>
                <a:ea typeface="SF Pro Text" pitchFamily="34" charset="-122"/>
                <a:cs typeface="SF Pro Text" pitchFamily="34" charset="-120"/>
              </a:rPr>
              <a:t>输出建议</a:t>
            </a:r>
            <a:endParaRPr lang="en-US" sz="870" dirty="0"/>
          </a:p>
        </p:txBody>
      </p:sp>
      <p:sp>
        <p:nvSpPr>
          <p:cNvPr id="37" name="Shape 35"/>
          <p:cNvSpPr/>
          <p:nvPr/>
        </p:nvSpPr>
        <p:spPr>
          <a:xfrm>
            <a:off x="8183880" y="2011680"/>
            <a:ext cx="2697480" cy="384048"/>
          </a:xfrm>
          <a:prstGeom prst="chevron">
            <a:avLst/>
          </a:prstGeom>
          <a:solidFill>
            <a:srgbClr val="FEF3C7"/>
          </a:solidFill>
          <a:ln w="12700">
            <a:solidFill>
              <a:srgbClr val="F59E0B">
                <a:alpha val="3000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430768" y="2112264"/>
            <a:ext cx="201168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0F172A"/>
                </a:solidFill>
                <a:latin typeface="SF Pro Text" pitchFamily="34" charset="0"/>
                <a:ea typeface="SF Pro Text" pitchFamily="34" charset="-122"/>
                <a:cs typeface="SF Pro Text" pitchFamily="34" charset="-120"/>
              </a:rPr>
              <a:t>巅峰发挥：先攻克难题</a:t>
            </a:r>
            <a:endParaRPr lang="en-US" sz="780" dirty="0"/>
          </a:p>
        </p:txBody>
      </p:sp>
      <p:sp>
        <p:nvSpPr>
          <p:cNvPr id="39" name="Shape 37"/>
          <p:cNvSpPr/>
          <p:nvPr/>
        </p:nvSpPr>
        <p:spPr>
          <a:xfrm>
            <a:off x="8183880" y="2578608"/>
            <a:ext cx="2697480" cy="384048"/>
          </a:xfrm>
          <a:prstGeom prst="chevron">
            <a:avLst/>
          </a:prstGeom>
          <a:solidFill>
            <a:srgbClr val="FEF3C7"/>
          </a:solidFill>
          <a:ln w="12700">
            <a:solidFill>
              <a:srgbClr val="F59E0B">
                <a:alpha val="3000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430768" y="2679192"/>
            <a:ext cx="201168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0F172A"/>
                </a:solidFill>
                <a:latin typeface="SF Pro Text" pitchFamily="34" charset="0"/>
                <a:ea typeface="SF Pro Text" pitchFamily="34" charset="-122"/>
                <a:cs typeface="SF Pro Text" pitchFamily="34" charset="-120"/>
              </a:rPr>
              <a:t>深度学习：推进核心科目</a:t>
            </a:r>
            <a:endParaRPr lang="en-US" sz="780" dirty="0"/>
          </a:p>
        </p:txBody>
      </p:sp>
      <p:sp>
        <p:nvSpPr>
          <p:cNvPr id="41" name="Shape 39"/>
          <p:cNvSpPr/>
          <p:nvPr/>
        </p:nvSpPr>
        <p:spPr>
          <a:xfrm>
            <a:off x="8183880" y="3145536"/>
            <a:ext cx="2697480" cy="384048"/>
          </a:xfrm>
          <a:prstGeom prst="chevron">
            <a:avLst/>
          </a:prstGeom>
          <a:solidFill>
            <a:srgbClr val="FFFFFF"/>
          </a:solidFill>
          <a:ln w="12700">
            <a:solidFill>
              <a:srgbClr val="F59E0B">
                <a:alpha val="3000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430768" y="3246120"/>
            <a:ext cx="201168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0F172A"/>
                </a:solidFill>
                <a:latin typeface="SF Pro Text" pitchFamily="34" charset="0"/>
                <a:ea typeface="SF Pro Text" pitchFamily="34" charset="-122"/>
                <a:cs typeface="SF Pro Text" pitchFamily="34" charset="-120"/>
              </a:rPr>
              <a:t>稳态节奏：均衡推进</a:t>
            </a:r>
            <a:endParaRPr lang="en-US" sz="780" dirty="0"/>
          </a:p>
        </p:txBody>
      </p:sp>
      <p:sp>
        <p:nvSpPr>
          <p:cNvPr id="43" name="Shape 41"/>
          <p:cNvSpPr/>
          <p:nvPr/>
        </p:nvSpPr>
        <p:spPr>
          <a:xfrm>
            <a:off x="8183880" y="3712464"/>
            <a:ext cx="2697480" cy="384048"/>
          </a:xfrm>
          <a:prstGeom prst="chevron">
            <a:avLst/>
          </a:prstGeom>
          <a:solidFill>
            <a:srgbClr val="FFFFFF"/>
          </a:solidFill>
          <a:ln w="12700">
            <a:solidFill>
              <a:srgbClr val="F59E0B">
                <a:alpha val="3000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430768" y="3813048"/>
            <a:ext cx="201168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0F172A"/>
                </a:solidFill>
                <a:latin typeface="SF Pro Text" pitchFamily="34" charset="0"/>
                <a:ea typeface="SF Pro Text" pitchFamily="34" charset="-122"/>
                <a:cs typeface="SF Pro Text" pitchFamily="34" charset="-120"/>
              </a:rPr>
              <a:t>轻量复习：错题 + 基础</a:t>
            </a:r>
            <a:endParaRPr lang="en-US" sz="780" dirty="0"/>
          </a:p>
        </p:txBody>
      </p:sp>
      <p:sp>
        <p:nvSpPr>
          <p:cNvPr id="45" name="Shape 43"/>
          <p:cNvSpPr/>
          <p:nvPr/>
        </p:nvSpPr>
        <p:spPr>
          <a:xfrm>
            <a:off x="8183880" y="4279392"/>
            <a:ext cx="2697480" cy="384048"/>
          </a:xfrm>
          <a:prstGeom prst="chevron">
            <a:avLst/>
          </a:prstGeom>
          <a:solidFill>
            <a:srgbClr val="FFFFFF"/>
          </a:solidFill>
          <a:ln w="12700">
            <a:solidFill>
              <a:srgbClr val="F59E0B">
                <a:alpha val="30000"/>
              </a:srgbClr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430768" y="4379976"/>
            <a:ext cx="2011680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0F172A"/>
                </a:solidFill>
                <a:latin typeface="SF Pro Text" pitchFamily="34" charset="0"/>
                <a:ea typeface="SF Pro Text" pitchFamily="34" charset="-122"/>
                <a:cs typeface="SF Pro Text" pitchFamily="34" charset="-120"/>
              </a:rPr>
              <a:t>恢复为主：休息 + 呼吸</a:t>
            </a:r>
            <a:endParaRPr lang="en-US" sz="780" dirty="0"/>
          </a:p>
        </p:txBody>
      </p:sp>
      <p:sp>
        <p:nvSpPr>
          <p:cNvPr id="47" name="Text 45"/>
          <p:cNvSpPr/>
          <p:nvPr/>
        </p:nvSpPr>
        <p:spPr>
          <a:xfrm>
            <a:off x="10012680" y="6473952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b="1" dirty="0">
                <a:solidFill>
                  <a:srgbClr val="64748B"/>
                </a:solidFill>
                <a:latin typeface="SF Pro Text" pitchFamily="34" charset="0"/>
                <a:ea typeface="SF Pro Text" pitchFamily="34" charset="-122"/>
                <a:cs typeface="SF Pro Text" pitchFamily="34" charset="-120"/>
              </a:rPr>
              <a:t>StudyPulse · 07</a:t>
            </a:r>
            <a:endParaRPr lang="en-US" sz="72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61320" y="438912"/>
            <a:ext cx="54864" cy="54864"/>
          </a:xfrm>
          <a:prstGeom prst="ellipse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872216" y="438912"/>
            <a:ext cx="54864" cy="54864"/>
          </a:xfrm>
          <a:prstGeom prst="ellipse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183112" y="438912"/>
            <a:ext cx="54864" cy="54864"/>
          </a:xfrm>
          <a:prstGeom prst="ellipse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561320" y="749808"/>
            <a:ext cx="54864" cy="54864"/>
          </a:xfrm>
          <a:prstGeom prst="ellipse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872216" y="749808"/>
            <a:ext cx="54864" cy="54864"/>
          </a:xfrm>
          <a:prstGeom prst="ellipse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183112" y="749808"/>
            <a:ext cx="54864" cy="54864"/>
          </a:xfrm>
          <a:prstGeom prst="ellipse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393192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SF Pro Display" pitchFamily="34" charset="0"/>
                <a:ea typeface="SF Pro Display" pitchFamily="34" charset="-122"/>
                <a:cs typeface="SF Pro Display" pitchFamily="34" charset="-120"/>
              </a:rPr>
              <a:t>架构：SwiftUI + Manager + SwiftData + Widget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612648" y="850392"/>
            <a:ext cx="80467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4748B"/>
                </a:solidFill>
                <a:latin typeface="SF Pro Text" pitchFamily="34" charset="0"/>
                <a:ea typeface="SF Pro Text" pitchFamily="34" charset="-122"/>
                <a:cs typeface="SF Pro Text" pitchFamily="34" charset="-120"/>
              </a:rPr>
              <a:t>视图层保持轻量，业务逻辑集中在 Manager，数据通过 SwiftData 与 App Group 同步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94360" y="1161288"/>
            <a:ext cx="10972800" cy="0"/>
          </a:xfrm>
          <a:prstGeom prst="line">
            <a:avLst/>
          </a:prstGeom>
          <a:noFill/>
          <a:ln w="12700">
            <a:solidFill>
              <a:srgbClr val="D8E3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68680" y="1508760"/>
            <a:ext cx="224028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3B82F6">
                <a:alpha val="80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93A4B7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069848" y="1691640"/>
            <a:ext cx="18379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B82F6"/>
                </a:solidFill>
                <a:latin typeface="SF Pro Display" pitchFamily="34" charset="0"/>
                <a:ea typeface="SF Pro Display" pitchFamily="34" charset="-122"/>
                <a:cs typeface="SF Pro Display" pitchFamily="34" charset="-120"/>
              </a:rPr>
              <a:t>Views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69848" y="2039112"/>
            <a:ext cx="18379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  <a:latin typeface="SF Pro Text" pitchFamily="34" charset="0"/>
                <a:ea typeface="SF Pro Text" pitchFamily="34" charset="-122"/>
                <a:cs typeface="SF Pro Text" pitchFamily="34" charset="-120"/>
              </a:rPr>
              <a:t>Home / Trends / Mistake / Todo / Settings</a:t>
            </a:r>
            <a:endParaRPr lang="en-US" sz="740" dirty="0"/>
          </a:p>
        </p:txBody>
      </p:sp>
      <p:sp>
        <p:nvSpPr>
          <p:cNvPr id="14" name="Shape 12"/>
          <p:cNvSpPr/>
          <p:nvPr/>
        </p:nvSpPr>
        <p:spPr>
          <a:xfrm>
            <a:off x="3520440" y="1508760"/>
            <a:ext cx="260604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1E40AF">
                <a:alpha val="80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93A4B7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721608" y="1691640"/>
            <a:ext cx="22037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40AF"/>
                </a:solidFill>
                <a:latin typeface="SF Pro Display" pitchFamily="34" charset="0"/>
                <a:ea typeface="SF Pro Display" pitchFamily="34" charset="-122"/>
                <a:cs typeface="SF Pro Display" pitchFamily="34" charset="-120"/>
              </a:rPr>
              <a:t>Managers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721608" y="2039112"/>
            <a:ext cx="22037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  <a:latin typeface="SF Pro Text" pitchFamily="34" charset="0"/>
                <a:ea typeface="SF Pro Text" pitchFamily="34" charset="-122"/>
                <a:cs typeface="SF Pro Text" pitchFamily="34" charset="-120"/>
              </a:rPr>
              <a:t>DataManager / HealthKit / PDF / Widget / Log</a:t>
            </a:r>
            <a:endParaRPr lang="en-US" sz="740" dirty="0"/>
          </a:p>
        </p:txBody>
      </p:sp>
      <p:sp>
        <p:nvSpPr>
          <p:cNvPr id="17" name="Shape 15"/>
          <p:cNvSpPr/>
          <p:nvPr/>
        </p:nvSpPr>
        <p:spPr>
          <a:xfrm>
            <a:off x="6537960" y="1508760"/>
            <a:ext cx="214884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8B5CF6">
                <a:alpha val="80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93A4B7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739128" y="1691640"/>
            <a:ext cx="17465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B5CF6"/>
                </a:solidFill>
                <a:latin typeface="SF Pro Display" pitchFamily="34" charset="0"/>
                <a:ea typeface="SF Pro Display" pitchFamily="34" charset="-122"/>
                <a:cs typeface="SF Pro Display" pitchFamily="34" charset="-120"/>
              </a:rPr>
              <a:t>Models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739128" y="2039112"/>
            <a:ext cx="17465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  <a:latin typeface="SF Pro Text" pitchFamily="34" charset="0"/>
                <a:ea typeface="SF Pro Text" pitchFamily="34" charset="-122"/>
                <a:cs typeface="SF Pro Text" pitchFamily="34" charset="-120"/>
              </a:rPr>
              <a:t>Value snapshots + SwiftData @Model</a:t>
            </a:r>
            <a:endParaRPr lang="en-US" sz="740" dirty="0"/>
          </a:p>
        </p:txBody>
      </p:sp>
      <p:sp>
        <p:nvSpPr>
          <p:cNvPr id="20" name="Shape 18"/>
          <p:cNvSpPr/>
          <p:nvPr/>
        </p:nvSpPr>
        <p:spPr>
          <a:xfrm>
            <a:off x="9098280" y="1508760"/>
            <a:ext cx="224028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F59E0B">
                <a:alpha val="80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93A4B7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9299448" y="1691640"/>
            <a:ext cx="18379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SF Pro Display" pitchFamily="34" charset="0"/>
                <a:ea typeface="SF Pro Display" pitchFamily="34" charset="-122"/>
                <a:cs typeface="SF Pro Display" pitchFamily="34" charset="-120"/>
              </a:rPr>
              <a:t>System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299448" y="2039112"/>
            <a:ext cx="18379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  <a:latin typeface="SF Pro Text" pitchFamily="34" charset="0"/>
                <a:ea typeface="SF Pro Text" pitchFamily="34" charset="-122"/>
                <a:cs typeface="SF Pro Text" pitchFamily="34" charset="-120"/>
              </a:rPr>
              <a:t>HealthKit / EventKit / Vision / Notifications</a:t>
            </a:r>
            <a:endParaRPr lang="en-US" sz="740" dirty="0"/>
          </a:p>
        </p:txBody>
      </p:sp>
      <p:sp>
        <p:nvSpPr>
          <p:cNvPr id="23" name="Shape 21"/>
          <p:cNvSpPr/>
          <p:nvPr/>
        </p:nvSpPr>
        <p:spPr>
          <a:xfrm>
            <a:off x="3127248" y="2011680"/>
            <a:ext cx="347472" cy="0"/>
          </a:xfrm>
          <a:prstGeom prst="line">
            <a:avLst/>
          </a:prstGeom>
          <a:noFill/>
          <a:ln w="25400">
            <a:solidFill>
              <a:srgbClr val="1E40AF"/>
            </a:solidFill>
            <a:prstDash val="solid"/>
            <a:headEnd type="none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6144768" y="2011680"/>
            <a:ext cx="347472" cy="0"/>
          </a:xfrm>
          <a:prstGeom prst="line">
            <a:avLst/>
          </a:prstGeom>
          <a:noFill/>
          <a:ln w="25400">
            <a:solidFill>
              <a:srgbClr val="1E40AF"/>
            </a:solidFill>
            <a:prstDash val="solid"/>
            <a:headEnd type="none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8705088" y="2011680"/>
            <a:ext cx="347472" cy="0"/>
          </a:xfrm>
          <a:prstGeom prst="line">
            <a:avLst/>
          </a:prstGeom>
          <a:noFill/>
          <a:ln w="25400">
            <a:solidFill>
              <a:srgbClr val="1E40AF"/>
            </a:solidFill>
            <a:prstDash val="solid"/>
            <a:headEnd type="none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1143000" y="3246120"/>
            <a:ext cx="4251960" cy="1508760"/>
          </a:xfrm>
          <a:prstGeom prst="roundRect">
            <a:avLst>
              <a:gd name="adj" fmla="val 7273"/>
            </a:avLst>
          </a:prstGeom>
          <a:solidFill>
            <a:srgbClr val="DBEAFE"/>
          </a:solidFill>
          <a:ln w="12700">
            <a:solidFill>
              <a:srgbClr val="3B82F6">
                <a:alpha val="80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93A4B7">
                <a:alpha val="1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1444752" y="3529584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40AF"/>
                </a:solidFill>
                <a:latin typeface="SF Pro Display" pitchFamily="34" charset="0"/>
                <a:ea typeface="SF Pro Display" pitchFamily="34" charset="-122"/>
                <a:cs typeface="SF Pro Display" pitchFamily="34" charset="-120"/>
              </a:rPr>
              <a:t>数据流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444752" y="3968496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1E3A8A"/>
                </a:solidFill>
                <a:latin typeface="SF Pro Text" pitchFamily="34" charset="0"/>
                <a:ea typeface="SF Pro Text" pitchFamily="34" charset="-122"/>
                <a:cs typeface="SF Pro Text" pitchFamily="34" charset="-120"/>
              </a:rPr>
              <a:t>SwiftData 存储业务模型；DataManager 暴露 value-type 快照，视图层 API 保持稳定。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492240" y="3246120"/>
            <a:ext cx="4251960" cy="1508760"/>
          </a:xfrm>
          <a:prstGeom prst="roundRect">
            <a:avLst>
              <a:gd name="adj" fmla="val 7273"/>
            </a:avLst>
          </a:prstGeom>
          <a:solidFill>
            <a:srgbClr val="FEF3C7"/>
          </a:solidFill>
          <a:ln w="12700">
            <a:solidFill>
              <a:srgbClr val="F59E0B">
                <a:alpha val="80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93A4B7">
                <a:alpha val="1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6793992" y="3529584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SF Pro Display" pitchFamily="34" charset="0"/>
                <a:ea typeface="SF Pro Display" pitchFamily="34" charset="-122"/>
                <a:cs typeface="SF Pro Display" pitchFamily="34" charset="-120"/>
              </a:rPr>
              <a:t>触达流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793992" y="3968496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SF Pro Text" pitchFamily="34" charset="0"/>
                <a:ea typeface="SF Pro Text" pitchFamily="34" charset="-122"/>
                <a:cs typeface="SF Pro Text" pitchFamily="34" charset="-120"/>
              </a:rPr>
              <a:t>App Group 将考试、趋势、HRV 同步给 Widget；Live Activity 承接学习计时。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0012680" y="6473952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b="1" dirty="0">
                <a:solidFill>
                  <a:srgbClr val="64748B"/>
                </a:solidFill>
                <a:latin typeface="SF Pro Text" pitchFamily="34" charset="0"/>
                <a:ea typeface="SF Pro Text" pitchFamily="34" charset="-122"/>
                <a:cs typeface="SF Pro Text" pitchFamily="34" charset="-120"/>
              </a:rPr>
              <a:t>StudyPulse · 08</a:t>
            </a:r>
            <a:endParaRPr lang="en-US" sz="72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61320" y="438912"/>
            <a:ext cx="54864" cy="54864"/>
          </a:xfrm>
          <a:prstGeom prst="ellipse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872216" y="438912"/>
            <a:ext cx="54864" cy="54864"/>
          </a:xfrm>
          <a:prstGeom prst="ellipse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183112" y="438912"/>
            <a:ext cx="54864" cy="54864"/>
          </a:xfrm>
          <a:prstGeom prst="ellipse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561320" y="749808"/>
            <a:ext cx="54864" cy="54864"/>
          </a:xfrm>
          <a:prstGeom prst="ellipse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872216" y="749808"/>
            <a:ext cx="54864" cy="54864"/>
          </a:xfrm>
          <a:prstGeom prst="ellipse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183112" y="749808"/>
            <a:ext cx="54864" cy="54864"/>
          </a:xfrm>
          <a:prstGeom prst="ellipse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393192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SF Pro Display" pitchFamily="34" charset="0"/>
                <a:ea typeface="SF Pro Display" pitchFamily="34" charset="-122"/>
                <a:cs typeface="SF Pro Display" pitchFamily="34" charset="-120"/>
              </a:rPr>
              <a:t>工程亮点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612648" y="850392"/>
            <a:ext cx="80467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4748B"/>
                </a:solidFill>
                <a:latin typeface="SF Pro Text" pitchFamily="34" charset="0"/>
                <a:ea typeface="SF Pro Text" pitchFamily="34" charset="-122"/>
                <a:cs typeface="SF Pro Text" pitchFamily="34" charset="-120"/>
              </a:rPr>
              <a:t>面向真实设备的响应速度、可维护性和系统集成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94360" y="1161288"/>
            <a:ext cx="10972800" cy="0"/>
          </a:xfrm>
          <a:prstGeom prst="line">
            <a:avLst/>
          </a:prstGeom>
          <a:noFill/>
          <a:ln w="12700">
            <a:solidFill>
              <a:srgbClr val="D8E3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49808" y="1417320"/>
            <a:ext cx="4663440" cy="786384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 w="12700">
            <a:solidFill>
              <a:srgbClr val="D8E3F0">
                <a:alpha val="80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93A4B7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950976" y="1655064"/>
            <a:ext cx="3840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40AF"/>
                </a:solidFill>
                <a:latin typeface="SF Pro Display" pitchFamily="34" charset="0"/>
                <a:ea typeface="SF Pro Display" pitchFamily="34" charset="-122"/>
                <a:cs typeface="SF Pro Display" pitchFamily="34" charset="-120"/>
              </a:rPr>
              <a:t>01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499616" y="1563624"/>
            <a:ext cx="1325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SF Pro Display" pitchFamily="34" charset="0"/>
                <a:ea typeface="SF Pro Display" pitchFamily="34" charset="-122"/>
                <a:cs typeface="SF Pro Display" pitchFamily="34" charset="-120"/>
              </a:rPr>
              <a:t>Swift 6 并发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2670048" y="1581912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b="1" dirty="0">
                <a:solidFill>
                  <a:srgbClr val="64748B"/>
                </a:solidFill>
                <a:latin typeface="SF Pro Text" pitchFamily="34" charset="0"/>
                <a:ea typeface="SF Pro Text" pitchFamily="34" charset="-122"/>
                <a:cs typeface="SF Pro Text" pitchFamily="34" charset="-120"/>
              </a:rPr>
              <a:t>Strict Concurrency，状态管理器 @MainActor，纯 I/O nonisolated。</a:t>
            </a:r>
            <a:endParaRPr lang="en-US" sz="740" dirty="0"/>
          </a:p>
        </p:txBody>
      </p:sp>
      <p:sp>
        <p:nvSpPr>
          <p:cNvPr id="15" name="Shape 13"/>
          <p:cNvSpPr/>
          <p:nvPr/>
        </p:nvSpPr>
        <p:spPr>
          <a:xfrm>
            <a:off x="6099048" y="1417320"/>
            <a:ext cx="4663440" cy="786384"/>
          </a:xfrm>
          <a:prstGeom prst="roundRect">
            <a:avLst>
              <a:gd name="adj" fmla="val 13953"/>
            </a:avLst>
          </a:prstGeom>
          <a:solidFill>
            <a:srgbClr val="DBEAFE"/>
          </a:solidFill>
          <a:ln w="12700">
            <a:solidFill>
              <a:srgbClr val="D8E3F0">
                <a:alpha val="80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93A4B7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300216" y="1655064"/>
            <a:ext cx="3840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40AF"/>
                </a:solidFill>
                <a:latin typeface="SF Pro Display" pitchFamily="34" charset="0"/>
                <a:ea typeface="SF Pro Display" pitchFamily="34" charset="-122"/>
                <a:cs typeface="SF Pro Display" pitchFamily="34" charset="-120"/>
              </a:rPr>
              <a:t>02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848856" y="1563624"/>
            <a:ext cx="1325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SF Pro Display" pitchFamily="34" charset="0"/>
                <a:ea typeface="SF Pro Display" pitchFamily="34" charset="-122"/>
                <a:cs typeface="SF Pro Display" pitchFamily="34" charset="-120"/>
              </a:rPr>
              <a:t>SwiftData 迁移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8019288" y="1581912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b="1" dirty="0">
                <a:solidFill>
                  <a:srgbClr val="64748B"/>
                </a:solidFill>
                <a:latin typeface="SF Pro Text" pitchFamily="34" charset="0"/>
                <a:ea typeface="SF Pro Text" pitchFamily="34" charset="-122"/>
                <a:cs typeface="SF Pro Text" pitchFamily="34" charset="-120"/>
              </a:rPr>
              <a:t>从旧 JSON 自动迁移到 SwiftData，视图层继续使用快照结构。</a:t>
            </a:r>
            <a:endParaRPr lang="en-US" sz="740" dirty="0"/>
          </a:p>
        </p:txBody>
      </p:sp>
      <p:sp>
        <p:nvSpPr>
          <p:cNvPr id="19" name="Shape 17"/>
          <p:cNvSpPr/>
          <p:nvPr/>
        </p:nvSpPr>
        <p:spPr>
          <a:xfrm>
            <a:off x="749808" y="2532888"/>
            <a:ext cx="4663440" cy="786384"/>
          </a:xfrm>
          <a:prstGeom prst="roundRect">
            <a:avLst>
              <a:gd name="adj" fmla="val 13953"/>
            </a:avLst>
          </a:prstGeom>
          <a:solidFill>
            <a:srgbClr val="DBEAFE"/>
          </a:solidFill>
          <a:ln w="12700">
            <a:solidFill>
              <a:srgbClr val="D8E3F0">
                <a:alpha val="80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93A4B7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950976" y="2770632"/>
            <a:ext cx="3840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40AF"/>
                </a:solidFill>
                <a:latin typeface="SF Pro Display" pitchFamily="34" charset="0"/>
                <a:ea typeface="SF Pro Display" pitchFamily="34" charset="-122"/>
                <a:cs typeface="SF Pro Display" pitchFamily="34" charset="-120"/>
              </a:rPr>
              <a:t>03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499616" y="2679192"/>
            <a:ext cx="1325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SF Pro Display" pitchFamily="34" charset="0"/>
                <a:ea typeface="SF Pro Display" pitchFamily="34" charset="-122"/>
                <a:cs typeface="SF Pro Display" pitchFamily="34" charset="-120"/>
              </a:rPr>
              <a:t>启动性能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2670048" y="2697480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b="1" dirty="0">
                <a:solidFill>
                  <a:srgbClr val="64748B"/>
                </a:solidFill>
                <a:latin typeface="SF Pro Text" pitchFamily="34" charset="0"/>
                <a:ea typeface="SF Pro Text" pitchFamily="34" charset="-122"/>
                <a:cs typeface="SF Pro Text" pitchFamily="34" charset="-120"/>
              </a:rPr>
              <a:t>后台 asyncInit，HealthKit 在主数据 ready 后启动，避免 I/O 竞争。</a:t>
            </a:r>
            <a:endParaRPr lang="en-US" sz="740" dirty="0"/>
          </a:p>
        </p:txBody>
      </p:sp>
      <p:sp>
        <p:nvSpPr>
          <p:cNvPr id="23" name="Shape 21"/>
          <p:cNvSpPr/>
          <p:nvPr/>
        </p:nvSpPr>
        <p:spPr>
          <a:xfrm>
            <a:off x="6099048" y="2532888"/>
            <a:ext cx="4663440" cy="786384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 w="12700">
            <a:solidFill>
              <a:srgbClr val="D8E3F0">
                <a:alpha val="80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93A4B7">
                <a:alpha val="1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300216" y="2770632"/>
            <a:ext cx="3840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40AF"/>
                </a:solidFill>
                <a:latin typeface="SF Pro Display" pitchFamily="34" charset="0"/>
                <a:ea typeface="SF Pro Display" pitchFamily="34" charset="-122"/>
                <a:cs typeface="SF Pro Display" pitchFamily="34" charset="-120"/>
              </a:rPr>
              <a:t>04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848856" y="2679192"/>
            <a:ext cx="1325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SF Pro Display" pitchFamily="34" charset="0"/>
                <a:ea typeface="SF Pro Display" pitchFamily="34" charset="-122"/>
                <a:cs typeface="SF Pro Display" pitchFamily="34" charset="-120"/>
              </a:rPr>
              <a:t>分帧渲染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8019288" y="2697480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b="1" dirty="0">
                <a:solidFill>
                  <a:srgbClr val="64748B"/>
                </a:solidFill>
                <a:latin typeface="SF Pro Text" pitchFamily="34" charset="0"/>
                <a:ea typeface="SF Pro Text" pitchFamily="34" charset="-122"/>
                <a:cs typeface="SF Pro Text" pitchFamily="34" charset="-120"/>
              </a:rPr>
              <a:t>HomeView 拆分首屏 long task，减少主线程卡顿。</a:t>
            </a:r>
            <a:endParaRPr lang="en-US" sz="740" dirty="0"/>
          </a:p>
        </p:txBody>
      </p:sp>
      <p:sp>
        <p:nvSpPr>
          <p:cNvPr id="27" name="Shape 25"/>
          <p:cNvSpPr/>
          <p:nvPr/>
        </p:nvSpPr>
        <p:spPr>
          <a:xfrm>
            <a:off x="749808" y="3648456"/>
            <a:ext cx="4663440" cy="786384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 w="12700">
            <a:solidFill>
              <a:srgbClr val="D8E3F0">
                <a:alpha val="80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93A4B7">
                <a:alpha val="1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950976" y="3886200"/>
            <a:ext cx="3840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40AF"/>
                </a:solidFill>
                <a:latin typeface="SF Pro Display" pitchFamily="34" charset="0"/>
                <a:ea typeface="SF Pro Display" pitchFamily="34" charset="-122"/>
                <a:cs typeface="SF Pro Display" pitchFamily="34" charset="-120"/>
              </a:rPr>
              <a:t>05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499616" y="3794760"/>
            <a:ext cx="1325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SF Pro Display" pitchFamily="34" charset="0"/>
                <a:ea typeface="SF Pro Display" pitchFamily="34" charset="-122"/>
                <a:cs typeface="SF Pro Display" pitchFamily="34" charset="-120"/>
              </a:rPr>
              <a:t>图片缓存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2670048" y="3813048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b="1" dirty="0">
                <a:solidFill>
                  <a:srgbClr val="64748B"/>
                </a:solidFill>
                <a:latin typeface="SF Pro Text" pitchFamily="34" charset="0"/>
                <a:ea typeface="SF Pro Text" pitchFamily="34" charset="-122"/>
                <a:cs typeface="SF Pro Text" pitchFamily="34" charset="-120"/>
              </a:rPr>
              <a:t>NSCache 缩略图缓存，50 项 / 300px，降低内存压力。</a:t>
            </a:r>
            <a:endParaRPr lang="en-US" sz="740" dirty="0"/>
          </a:p>
        </p:txBody>
      </p:sp>
      <p:sp>
        <p:nvSpPr>
          <p:cNvPr id="31" name="Shape 29"/>
          <p:cNvSpPr/>
          <p:nvPr/>
        </p:nvSpPr>
        <p:spPr>
          <a:xfrm>
            <a:off x="6099048" y="3648456"/>
            <a:ext cx="4663440" cy="786384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 w="12700">
            <a:solidFill>
              <a:srgbClr val="F59E0B">
                <a:alpha val="80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93A4B7">
                <a:alpha val="10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6300216" y="3886200"/>
            <a:ext cx="3840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SF Pro Display" pitchFamily="34" charset="0"/>
                <a:ea typeface="SF Pro Display" pitchFamily="34" charset="-122"/>
                <a:cs typeface="SF Pro Display" pitchFamily="34" charset="-120"/>
              </a:rPr>
              <a:t>06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848856" y="3794760"/>
            <a:ext cx="1325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SF Pro Display" pitchFamily="34" charset="0"/>
                <a:ea typeface="SF Pro Display" pitchFamily="34" charset="-122"/>
                <a:cs typeface="SF Pro Display" pitchFamily="34" charset="-120"/>
              </a:rPr>
              <a:t>日志复盘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8019288" y="3813048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b="1" dirty="0">
                <a:solidFill>
                  <a:srgbClr val="64748B"/>
                </a:solidFill>
                <a:latin typeface="SF Pro Text" pitchFamily="34" charset="0"/>
                <a:ea typeface="SF Pro Text" pitchFamily="34" charset="-122"/>
                <a:cs typeface="SF Pro Text" pitchFamily="34" charset="-120"/>
              </a:rPr>
              <a:t>LagMonitor + LogStore 5000 条，支持导出定位问题。</a:t>
            </a:r>
            <a:endParaRPr lang="en-US" sz="740" dirty="0"/>
          </a:p>
        </p:txBody>
      </p:sp>
      <p:sp>
        <p:nvSpPr>
          <p:cNvPr id="35" name="Shape 33"/>
          <p:cNvSpPr/>
          <p:nvPr/>
        </p:nvSpPr>
        <p:spPr>
          <a:xfrm>
            <a:off x="749808" y="4764024"/>
            <a:ext cx="4663440" cy="786384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 w="12700">
            <a:solidFill>
              <a:srgbClr val="D8E3F0">
                <a:alpha val="80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93A4B7">
                <a:alpha val="10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950976" y="5001768"/>
            <a:ext cx="3840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40AF"/>
                </a:solidFill>
                <a:latin typeface="SF Pro Display" pitchFamily="34" charset="0"/>
                <a:ea typeface="SF Pro Display" pitchFamily="34" charset="-122"/>
                <a:cs typeface="SF Pro Display" pitchFamily="34" charset="-120"/>
              </a:rPr>
              <a:t>07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499616" y="4910328"/>
            <a:ext cx="1325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SF Pro Display" pitchFamily="34" charset="0"/>
                <a:ea typeface="SF Pro Display" pitchFamily="34" charset="-122"/>
                <a:cs typeface="SF Pro Display" pitchFamily="34" charset="-120"/>
              </a:rPr>
              <a:t>iPad 适配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2670048" y="4928616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b="1" dirty="0">
                <a:solidFill>
                  <a:srgbClr val="64748B"/>
                </a:solidFill>
                <a:latin typeface="SF Pro Text" pitchFamily="34" charset="0"/>
                <a:ea typeface="SF Pro Text" pitchFamily="34" charset="-122"/>
                <a:cs typeface="SF Pro Text" pitchFamily="34" charset="-120"/>
              </a:rPr>
              <a:t>NavigationSplitView + AdaptiveGrid，兼顾手机与大屏。</a:t>
            </a:r>
            <a:endParaRPr lang="en-US" sz="740" dirty="0"/>
          </a:p>
        </p:txBody>
      </p:sp>
      <p:sp>
        <p:nvSpPr>
          <p:cNvPr id="39" name="Shape 37"/>
          <p:cNvSpPr/>
          <p:nvPr/>
        </p:nvSpPr>
        <p:spPr>
          <a:xfrm>
            <a:off x="6099048" y="4764024"/>
            <a:ext cx="4663440" cy="786384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 w="12700">
            <a:solidFill>
              <a:srgbClr val="D8E3F0">
                <a:alpha val="80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93A4B7">
                <a:alpha val="10000"/>
              </a:srgbClr>
            </a:outerShdw>
          </a:effectLst>
        </p:spPr>
      </p:sp>
      <p:sp>
        <p:nvSpPr>
          <p:cNvPr id="40" name="Text 38"/>
          <p:cNvSpPr/>
          <p:nvPr/>
        </p:nvSpPr>
        <p:spPr>
          <a:xfrm>
            <a:off x="6300216" y="5001768"/>
            <a:ext cx="38404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40AF"/>
                </a:solidFill>
                <a:latin typeface="SF Pro Display" pitchFamily="34" charset="0"/>
                <a:ea typeface="SF Pro Display" pitchFamily="34" charset="-122"/>
                <a:cs typeface="SF Pro Display" pitchFamily="34" charset="-120"/>
              </a:rPr>
              <a:t>08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6848856" y="4910328"/>
            <a:ext cx="1325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SF Pro Display" pitchFamily="34" charset="0"/>
                <a:ea typeface="SF Pro Display" pitchFamily="34" charset="-122"/>
                <a:cs typeface="SF Pro Display" pitchFamily="34" charset="-120"/>
              </a:rPr>
              <a:t>本地化规范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8019288" y="4928616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40" b="1" dirty="0">
                <a:solidFill>
                  <a:srgbClr val="64748B"/>
                </a:solidFill>
                <a:latin typeface="SF Pro Text" pitchFamily="34" charset="0"/>
                <a:ea typeface="SF Pro Text" pitchFamily="34" charset="-122"/>
                <a:cs typeface="SF Pro Text" pitchFamily="34" charset="-120"/>
              </a:rPr>
              <a:t>主应用和 Widget 同步维护 5 套语言资源。</a:t>
            </a:r>
            <a:endParaRPr lang="en-US" sz="740" dirty="0"/>
          </a:p>
        </p:txBody>
      </p:sp>
      <p:sp>
        <p:nvSpPr>
          <p:cNvPr id="43" name="Text 41"/>
          <p:cNvSpPr/>
          <p:nvPr/>
        </p:nvSpPr>
        <p:spPr>
          <a:xfrm>
            <a:off x="10012680" y="6473952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b="1" dirty="0">
                <a:solidFill>
                  <a:srgbClr val="64748B"/>
                </a:solidFill>
                <a:latin typeface="SF Pro Text" pitchFamily="34" charset="0"/>
                <a:ea typeface="SF Pro Text" pitchFamily="34" charset="-122"/>
                <a:cs typeface="SF Pro Text" pitchFamily="34" charset="-120"/>
              </a:rPr>
              <a:t>StudyPulse · 09</a:t>
            </a:r>
            <a:endParaRPr lang="en-US" sz="72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61320" y="438912"/>
            <a:ext cx="54864" cy="54864"/>
          </a:xfrm>
          <a:prstGeom prst="ellipse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872216" y="438912"/>
            <a:ext cx="54864" cy="54864"/>
          </a:xfrm>
          <a:prstGeom prst="ellipse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183112" y="438912"/>
            <a:ext cx="54864" cy="54864"/>
          </a:xfrm>
          <a:prstGeom prst="ellipse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561320" y="749808"/>
            <a:ext cx="54864" cy="54864"/>
          </a:xfrm>
          <a:prstGeom prst="ellipse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872216" y="749808"/>
            <a:ext cx="54864" cy="54864"/>
          </a:xfrm>
          <a:prstGeom prst="ellipse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183112" y="749808"/>
            <a:ext cx="54864" cy="54864"/>
          </a:xfrm>
          <a:prstGeom prst="ellipse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393192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SF Pro Display" pitchFamily="34" charset="0"/>
                <a:ea typeface="SF Pro Display" pitchFamily="34" charset="-122"/>
                <a:cs typeface="SF Pro Display" pitchFamily="34" charset="-120"/>
              </a:rPr>
              <a:t>截图占位：核心流程演示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612648" y="850392"/>
            <a:ext cx="80467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4748B"/>
                </a:solidFill>
                <a:latin typeface="SF Pro Text" pitchFamily="34" charset="0"/>
                <a:ea typeface="SF Pro Text" pitchFamily="34" charset="-122"/>
                <a:cs typeface="SF Pro Text" pitchFamily="34" charset="-120"/>
              </a:rPr>
              <a:t>用于后续补充真实 Demo 流程，不填充虚假界面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94360" y="1161288"/>
            <a:ext cx="10972800" cy="0"/>
          </a:xfrm>
          <a:prstGeom prst="line">
            <a:avLst/>
          </a:prstGeom>
          <a:noFill/>
          <a:ln w="12700">
            <a:solidFill>
              <a:srgbClr val="D8E3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49808" y="1417320"/>
            <a:ext cx="2331720" cy="4251960"/>
          </a:xfrm>
          <a:prstGeom prst="roundRect">
            <a:avLst>
              <a:gd name="adj" fmla="val 6275"/>
            </a:avLst>
          </a:prstGeom>
          <a:solidFill>
            <a:srgbClr val="FFFFFF"/>
          </a:solidFill>
          <a:ln w="16510">
            <a:solidFill>
              <a:srgbClr val="1E40A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96112" y="1581912"/>
            <a:ext cx="2039112" cy="3922776"/>
          </a:xfrm>
          <a:prstGeom prst="roundRect">
            <a:avLst>
              <a:gd name="adj" fmla="val 5830"/>
            </a:avLst>
          </a:prstGeom>
          <a:solidFill>
            <a:srgbClr val="F8FAFC"/>
          </a:solidFill>
          <a:ln w="10160">
            <a:solidFill>
              <a:srgbClr val="D8E3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78408" y="3378708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40AF"/>
                </a:solidFill>
                <a:latin typeface="SF Pro Display" pitchFamily="34" charset="0"/>
                <a:ea typeface="SF Pro Display" pitchFamily="34" charset="-122"/>
                <a:cs typeface="SF Pro Display" pitchFamily="34" charset="-120"/>
              </a:rPr>
              <a:t>错题录入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978408" y="3689604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  <a:latin typeface="SF Pro Text" pitchFamily="34" charset="0"/>
                <a:ea typeface="SF Pro Text" pitchFamily="34" charset="-122"/>
                <a:cs typeface="SF Pro Text" pitchFamily="34" charset="-120"/>
              </a:rPr>
              <a:t>四段式 + OCR</a:t>
            </a:r>
            <a:endParaRPr lang="en-US" sz="740" dirty="0"/>
          </a:p>
        </p:txBody>
      </p:sp>
      <p:sp>
        <p:nvSpPr>
          <p:cNvPr id="15" name="Shape 13"/>
          <p:cNvSpPr/>
          <p:nvPr/>
        </p:nvSpPr>
        <p:spPr>
          <a:xfrm>
            <a:off x="3493008" y="1417320"/>
            <a:ext cx="2331720" cy="4251960"/>
          </a:xfrm>
          <a:prstGeom prst="roundRect">
            <a:avLst>
              <a:gd name="adj" fmla="val 6275"/>
            </a:avLst>
          </a:prstGeom>
          <a:solidFill>
            <a:srgbClr val="FFFFFF"/>
          </a:solidFill>
          <a:ln w="16510">
            <a:solidFill>
              <a:srgbClr val="1E40A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39312" y="1581912"/>
            <a:ext cx="2039112" cy="3922776"/>
          </a:xfrm>
          <a:prstGeom prst="roundRect">
            <a:avLst>
              <a:gd name="adj" fmla="val 5830"/>
            </a:avLst>
          </a:prstGeom>
          <a:solidFill>
            <a:srgbClr val="F8FAFC"/>
          </a:solidFill>
          <a:ln w="10160">
            <a:solidFill>
              <a:srgbClr val="D8E3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721608" y="3378708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40AF"/>
                </a:solidFill>
                <a:latin typeface="SF Pro Display" pitchFamily="34" charset="0"/>
                <a:ea typeface="SF Pro Display" pitchFamily="34" charset="-122"/>
                <a:cs typeface="SF Pro Display" pitchFamily="34" charset="-120"/>
              </a:rPr>
              <a:t>PDF 导出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721608" y="3689604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  <a:latin typeface="SF Pro Text" pitchFamily="34" charset="0"/>
                <a:ea typeface="SF Pro Text" pitchFamily="34" charset="-122"/>
                <a:cs typeface="SF Pro Text" pitchFamily="34" charset="-120"/>
              </a:rPr>
              <a:t>封面 / 目录 / 每题页</a:t>
            </a:r>
            <a:endParaRPr lang="en-US" sz="740" dirty="0"/>
          </a:p>
        </p:txBody>
      </p:sp>
      <p:sp>
        <p:nvSpPr>
          <p:cNvPr id="19" name="Shape 17"/>
          <p:cNvSpPr/>
          <p:nvPr/>
        </p:nvSpPr>
        <p:spPr>
          <a:xfrm>
            <a:off x="6236208" y="1417320"/>
            <a:ext cx="2331720" cy="4251960"/>
          </a:xfrm>
          <a:prstGeom prst="roundRect">
            <a:avLst>
              <a:gd name="adj" fmla="val 6275"/>
            </a:avLst>
          </a:prstGeom>
          <a:solidFill>
            <a:srgbClr val="FFFFFF"/>
          </a:solidFill>
          <a:ln w="16510">
            <a:solidFill>
              <a:srgbClr val="1E40A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382512" y="1581912"/>
            <a:ext cx="2039112" cy="3922776"/>
          </a:xfrm>
          <a:prstGeom prst="roundRect">
            <a:avLst>
              <a:gd name="adj" fmla="val 5830"/>
            </a:avLst>
          </a:prstGeom>
          <a:solidFill>
            <a:srgbClr val="F8FAFC"/>
          </a:solidFill>
          <a:ln w="10160">
            <a:solidFill>
              <a:srgbClr val="D8E3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64808" y="3378708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40AF"/>
                </a:solidFill>
                <a:latin typeface="SF Pro Display" pitchFamily="34" charset="0"/>
                <a:ea typeface="SF Pro Display" pitchFamily="34" charset="-122"/>
                <a:cs typeface="SF Pro Display" pitchFamily="34" charset="-120"/>
              </a:rPr>
              <a:t>考试日历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464808" y="3689604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  <a:latin typeface="SF Pro Text" pitchFamily="34" charset="0"/>
                <a:ea typeface="SF Pro Text" pitchFamily="34" charset="-122"/>
                <a:cs typeface="SF Pro Text" pitchFamily="34" charset="-120"/>
              </a:rPr>
              <a:t>多日考试 / 时间段</a:t>
            </a:r>
            <a:endParaRPr lang="en-US" sz="740" dirty="0"/>
          </a:p>
        </p:txBody>
      </p:sp>
      <p:sp>
        <p:nvSpPr>
          <p:cNvPr id="23" name="Shape 21"/>
          <p:cNvSpPr/>
          <p:nvPr/>
        </p:nvSpPr>
        <p:spPr>
          <a:xfrm>
            <a:off x="8979408" y="1417320"/>
            <a:ext cx="2331720" cy="4251960"/>
          </a:xfrm>
          <a:prstGeom prst="roundRect">
            <a:avLst>
              <a:gd name="adj" fmla="val 6275"/>
            </a:avLst>
          </a:prstGeom>
          <a:solidFill>
            <a:srgbClr val="FFFFFF"/>
          </a:solidFill>
          <a:ln w="16510">
            <a:solidFill>
              <a:srgbClr val="1E40A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125712" y="1581912"/>
            <a:ext cx="2039112" cy="3922776"/>
          </a:xfrm>
          <a:prstGeom prst="roundRect">
            <a:avLst>
              <a:gd name="adj" fmla="val 5830"/>
            </a:avLst>
          </a:prstGeom>
          <a:solidFill>
            <a:srgbClr val="F8FAFC"/>
          </a:solidFill>
          <a:ln w="10160">
            <a:solidFill>
              <a:srgbClr val="D8E3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208008" y="3378708"/>
            <a:ext cx="1874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40AF"/>
                </a:solidFill>
                <a:latin typeface="SF Pro Display" pitchFamily="34" charset="0"/>
                <a:ea typeface="SF Pro Display" pitchFamily="34" charset="-122"/>
                <a:cs typeface="SF Pro Display" pitchFamily="34" charset="-120"/>
              </a:rPr>
              <a:t>Widget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9208008" y="3689604"/>
            <a:ext cx="1874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  <a:latin typeface="SF Pro Text" pitchFamily="34" charset="0"/>
                <a:ea typeface="SF Pro Text" pitchFamily="34" charset="-122"/>
                <a:cs typeface="SF Pro Text" pitchFamily="34" charset="-120"/>
              </a:rPr>
              <a:t>考试 / 趋势 / HRV / Live Activity</a:t>
            </a:r>
            <a:endParaRPr lang="en-US" sz="740" dirty="0"/>
          </a:p>
        </p:txBody>
      </p:sp>
      <p:sp>
        <p:nvSpPr>
          <p:cNvPr id="27" name="Text 25"/>
          <p:cNvSpPr/>
          <p:nvPr/>
        </p:nvSpPr>
        <p:spPr>
          <a:xfrm>
            <a:off x="10012680" y="6473952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b="1" dirty="0">
                <a:solidFill>
                  <a:srgbClr val="64748B"/>
                </a:solidFill>
                <a:latin typeface="SF Pro Text" pitchFamily="34" charset="0"/>
                <a:ea typeface="SF Pro Text" pitchFamily="34" charset="-122"/>
                <a:cs typeface="SF Pro Text" pitchFamily="34" charset="-120"/>
              </a:rPr>
              <a:t>StudyPulse · 10</a:t>
            </a:r>
            <a:endParaRPr lang="en-US" sz="72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61320" y="438912"/>
            <a:ext cx="54864" cy="54864"/>
          </a:xfrm>
          <a:prstGeom prst="ellipse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872216" y="438912"/>
            <a:ext cx="54864" cy="54864"/>
          </a:xfrm>
          <a:prstGeom prst="ellipse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183112" y="438912"/>
            <a:ext cx="54864" cy="54864"/>
          </a:xfrm>
          <a:prstGeom prst="ellipse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561320" y="749808"/>
            <a:ext cx="54864" cy="54864"/>
          </a:xfrm>
          <a:prstGeom prst="ellipse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872216" y="749808"/>
            <a:ext cx="54864" cy="54864"/>
          </a:xfrm>
          <a:prstGeom prst="ellipse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183112" y="749808"/>
            <a:ext cx="54864" cy="54864"/>
          </a:xfrm>
          <a:prstGeom prst="ellipse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393192"/>
            <a:ext cx="7863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SF Pro Display" pitchFamily="34" charset="0"/>
                <a:ea typeface="SF Pro Display" pitchFamily="34" charset="-122"/>
                <a:cs typeface="SF Pro Display" pitchFamily="34" charset="-120"/>
              </a:rPr>
              <a:t>路线图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612648" y="850392"/>
            <a:ext cx="80467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4748B"/>
                </a:solidFill>
                <a:latin typeface="SF Pro Text" pitchFamily="34" charset="0"/>
                <a:ea typeface="SF Pro Text" pitchFamily="34" charset="-122"/>
                <a:cs typeface="SF Pro Text" pitchFamily="34" charset="-120"/>
              </a:rPr>
              <a:t>在已有闭环基础上继续增强智能化、可视化和跨系统协同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94360" y="1161288"/>
            <a:ext cx="10972800" cy="0"/>
          </a:xfrm>
          <a:prstGeom prst="line">
            <a:avLst/>
          </a:prstGeom>
          <a:noFill/>
          <a:ln w="12700">
            <a:solidFill>
              <a:srgbClr val="D8E3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05840" y="2971800"/>
            <a:ext cx="9966960" cy="0"/>
          </a:xfrm>
          <a:prstGeom prst="line">
            <a:avLst/>
          </a:prstGeom>
          <a:noFill/>
          <a:ln w="30480">
            <a:solidFill>
              <a:srgbClr val="1E40A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14400" y="2697480"/>
            <a:ext cx="566928" cy="566928"/>
          </a:xfrm>
          <a:prstGeom prst="ellipse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2843784"/>
            <a:ext cx="5669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SF Pro Display" pitchFamily="34" charset="0"/>
                <a:ea typeface="SF Pro Display" pitchFamily="34" charset="-122"/>
                <a:cs typeface="SF Pro Display" pitchFamily="34" charset="-120"/>
              </a:rPr>
              <a:t>1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594360" y="3749040"/>
            <a:ext cx="2331720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D8E3F0">
                <a:alpha val="80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93A4B7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22960" y="4005072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40AF"/>
                </a:solidFill>
                <a:latin typeface="SF Pro Display" pitchFamily="34" charset="0"/>
                <a:ea typeface="SF Pro Display" pitchFamily="34" charset="-122"/>
                <a:cs typeface="SF Pro Display" pitchFamily="34" charset="-120"/>
              </a:rPr>
              <a:t>数据基础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22960" y="4407408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  <a:latin typeface="SF Pro Text" pitchFamily="34" charset="0"/>
                <a:ea typeface="SF Pro Text" pitchFamily="34" charset="-122"/>
                <a:cs typeface="SF Pro Text" pitchFamily="34" charset="-120"/>
              </a:rPr>
              <a:t>完善 SwiftData 模型、迁移策略与样例数据。</a:t>
            </a:r>
            <a:endParaRPr lang="en-US" sz="740" dirty="0"/>
          </a:p>
        </p:txBody>
      </p:sp>
      <p:sp>
        <p:nvSpPr>
          <p:cNvPr id="17" name="Shape 15"/>
          <p:cNvSpPr/>
          <p:nvPr/>
        </p:nvSpPr>
        <p:spPr>
          <a:xfrm>
            <a:off x="3657600" y="2697480"/>
            <a:ext cx="566928" cy="56692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0" y="2843784"/>
            <a:ext cx="5669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SF Pro Display" pitchFamily="34" charset="0"/>
                <a:ea typeface="SF Pro Display" pitchFamily="34" charset="-122"/>
                <a:cs typeface="SF Pro Display" pitchFamily="34" charset="-120"/>
              </a:rPr>
              <a:t>2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3337560" y="3749040"/>
            <a:ext cx="2331720" cy="1188720"/>
          </a:xfrm>
          <a:prstGeom prst="roundRect">
            <a:avLst>
              <a:gd name="adj" fmla="val 9231"/>
            </a:avLst>
          </a:prstGeom>
          <a:solidFill>
            <a:srgbClr val="FEF3C7"/>
          </a:solidFill>
          <a:ln w="12700">
            <a:solidFill>
              <a:srgbClr val="F59E0B">
                <a:alpha val="80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93A4B7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566160" y="4005072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SF Pro Display" pitchFamily="34" charset="0"/>
                <a:ea typeface="SF Pro Display" pitchFamily="34" charset="-122"/>
                <a:cs typeface="SF Pro Display" pitchFamily="34" charset="-120"/>
              </a:rPr>
              <a:t>智能建议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566160" y="4407408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  <a:latin typeface="SF Pro Text" pitchFamily="34" charset="0"/>
                <a:ea typeface="SF Pro Text" pitchFamily="34" charset="-122"/>
                <a:cs typeface="SF Pro Text" pitchFamily="34" charset="-120"/>
              </a:rPr>
              <a:t>把健康准备度、错题复习、成绩趋势联动成更强的学习建议。</a:t>
            </a:r>
            <a:endParaRPr lang="en-US" sz="740" dirty="0"/>
          </a:p>
        </p:txBody>
      </p:sp>
      <p:sp>
        <p:nvSpPr>
          <p:cNvPr id="22" name="Shape 20"/>
          <p:cNvSpPr/>
          <p:nvPr/>
        </p:nvSpPr>
        <p:spPr>
          <a:xfrm>
            <a:off x="6400800" y="2697480"/>
            <a:ext cx="566928" cy="566928"/>
          </a:xfrm>
          <a:prstGeom prst="ellipse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0" y="2843784"/>
            <a:ext cx="5669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SF Pro Display" pitchFamily="34" charset="0"/>
                <a:ea typeface="SF Pro Display" pitchFamily="34" charset="-122"/>
                <a:cs typeface="SF Pro Display" pitchFamily="34" charset="-120"/>
              </a:rPr>
              <a:t>3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6080760" y="3749040"/>
            <a:ext cx="2331720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D8E3F0">
                <a:alpha val="80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93A4B7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309360" y="4005072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40AF"/>
                </a:solidFill>
                <a:latin typeface="SF Pro Display" pitchFamily="34" charset="0"/>
                <a:ea typeface="SF Pro Display" pitchFamily="34" charset="-122"/>
                <a:cs typeface="SF Pro Display" pitchFamily="34" charset="-120"/>
              </a:rPr>
              <a:t>系统集成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309360" y="4407408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  <a:latin typeface="SF Pro Text" pitchFamily="34" charset="0"/>
                <a:ea typeface="SF Pro Text" pitchFamily="34" charset="-122"/>
                <a:cs typeface="SF Pro Text" pitchFamily="34" charset="-120"/>
              </a:rPr>
              <a:t>扩展快捷指令、Widget、Live Activity 与日历/提醒事项联动。</a:t>
            </a:r>
            <a:endParaRPr lang="en-US" sz="740" dirty="0"/>
          </a:p>
        </p:txBody>
      </p:sp>
      <p:sp>
        <p:nvSpPr>
          <p:cNvPr id="27" name="Shape 25"/>
          <p:cNvSpPr/>
          <p:nvPr/>
        </p:nvSpPr>
        <p:spPr>
          <a:xfrm>
            <a:off x="9144000" y="2697480"/>
            <a:ext cx="566928" cy="566928"/>
          </a:xfrm>
          <a:prstGeom prst="ellipse">
            <a:avLst/>
          </a:prstGeom>
          <a:solidFill>
            <a:srgbClr val="1E40AF"/>
          </a:solidFill>
          <a:ln w="12700">
            <a:solidFill>
              <a:srgbClr val="1E40A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144000" y="2843784"/>
            <a:ext cx="5669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SF Pro Display" pitchFamily="34" charset="0"/>
                <a:ea typeface="SF Pro Display" pitchFamily="34" charset="-122"/>
                <a:cs typeface="SF Pro Display" pitchFamily="34" charset="-120"/>
              </a:rPr>
              <a:t>4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8823960" y="3749040"/>
            <a:ext cx="2331720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D8E3F0">
                <a:alpha val="80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93A4B7">
                <a:alpha val="1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9052560" y="4005072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40AF"/>
                </a:solidFill>
                <a:latin typeface="SF Pro Display" pitchFamily="34" charset="0"/>
                <a:ea typeface="SF Pro Display" pitchFamily="34" charset="-122"/>
                <a:cs typeface="SF Pro Display" pitchFamily="34" charset="-120"/>
              </a:rPr>
              <a:t>体验完善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9052560" y="4407408"/>
            <a:ext cx="1737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  <a:latin typeface="SF Pro Text" pitchFamily="34" charset="0"/>
                <a:ea typeface="SF Pro Text" pitchFamily="34" charset="-122"/>
                <a:cs typeface="SF Pro Text" pitchFamily="34" charset="-120"/>
              </a:rPr>
              <a:t>补齐真实截图、演示视频、交互细节和更多可访问性检查。</a:t>
            </a:r>
            <a:endParaRPr lang="en-US" sz="740" dirty="0"/>
          </a:p>
        </p:txBody>
      </p:sp>
      <p:sp>
        <p:nvSpPr>
          <p:cNvPr id="32" name="Text 30"/>
          <p:cNvSpPr/>
          <p:nvPr/>
        </p:nvSpPr>
        <p:spPr>
          <a:xfrm>
            <a:off x="10012680" y="6473952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b="1" dirty="0">
                <a:solidFill>
                  <a:srgbClr val="64748B"/>
                </a:solidFill>
                <a:latin typeface="SF Pro Text" pitchFamily="34" charset="0"/>
                <a:ea typeface="SF Pro Text" pitchFamily="34" charset="-122"/>
                <a:cs typeface="SF Pro Text" pitchFamily="34" charset="-120"/>
              </a:rPr>
              <a:t>StudyPulse · 11</a:t>
            </a:r>
            <a:endParaRPr lang="en-US" sz="72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61320" y="438912"/>
            <a:ext cx="54864" cy="54864"/>
          </a:xfrm>
          <a:prstGeom prst="ellipse">
            <a:avLst/>
          </a:prstGeom>
          <a:solidFill>
            <a:srgbClr val="1E293B">
              <a:alpha val="85000"/>
            </a:srgbClr>
          </a:solidFill>
          <a:ln w="12700">
            <a:solidFill>
              <a:srgbClr val="1E293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872216" y="438912"/>
            <a:ext cx="54864" cy="54864"/>
          </a:xfrm>
          <a:prstGeom prst="ellipse">
            <a:avLst/>
          </a:prstGeom>
          <a:solidFill>
            <a:srgbClr val="1E293B">
              <a:alpha val="85000"/>
            </a:srgbClr>
          </a:solidFill>
          <a:ln w="12700">
            <a:solidFill>
              <a:srgbClr val="1E293B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183112" y="438912"/>
            <a:ext cx="54864" cy="54864"/>
          </a:xfrm>
          <a:prstGeom prst="ellipse">
            <a:avLst/>
          </a:prstGeom>
          <a:solidFill>
            <a:srgbClr val="1E293B">
              <a:alpha val="85000"/>
            </a:srgbClr>
          </a:solidFill>
          <a:ln w="12700">
            <a:solidFill>
              <a:srgbClr val="1E293B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561320" y="749808"/>
            <a:ext cx="54864" cy="54864"/>
          </a:xfrm>
          <a:prstGeom prst="ellipse">
            <a:avLst/>
          </a:prstGeom>
          <a:solidFill>
            <a:srgbClr val="1E293B">
              <a:alpha val="85000"/>
            </a:srgbClr>
          </a:solidFill>
          <a:ln w="12700">
            <a:solidFill>
              <a:srgbClr val="1E293B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872216" y="749808"/>
            <a:ext cx="54864" cy="54864"/>
          </a:xfrm>
          <a:prstGeom prst="ellipse">
            <a:avLst/>
          </a:prstGeom>
          <a:solidFill>
            <a:srgbClr val="1E293B">
              <a:alpha val="85000"/>
            </a:srgbClr>
          </a:solidFill>
          <a:ln w="12700">
            <a:solidFill>
              <a:srgbClr val="1E293B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183112" y="749808"/>
            <a:ext cx="54864" cy="54864"/>
          </a:xfrm>
          <a:prstGeom prst="ellipse">
            <a:avLst/>
          </a:prstGeom>
          <a:solidFill>
            <a:srgbClr val="1E293B">
              <a:alpha val="85000"/>
            </a:srgbClr>
          </a:solidFill>
          <a:ln w="12700">
            <a:solidFill>
              <a:srgbClr val="1E293B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1600200"/>
            <a:ext cx="5486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SF Pro Display" pitchFamily="34" charset="0"/>
                <a:ea typeface="SF Pro Display" pitchFamily="34" charset="-122"/>
                <a:cs typeface="SF Pro Display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777240" y="2542032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SF Pro Display" pitchFamily="34" charset="0"/>
                <a:ea typeface="SF Pro Display" pitchFamily="34" charset="-122"/>
                <a:cs typeface="SF Pro Display" pitchFamily="34" charset="-120"/>
              </a:rPr>
              <a:t>StudyPulse 将学习记录转化为可执行节奏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86384" y="3163824"/>
            <a:ext cx="4983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BD5E1"/>
                </a:solidFill>
                <a:latin typeface="SF Pro Text" pitchFamily="34" charset="0"/>
                <a:ea typeface="SF Pro Text" pitchFamily="34" charset="-122"/>
                <a:cs typeface="SF Pro Text" pitchFamily="34" charset="-120"/>
              </a:rPr>
              <a:t>成绩告诉你发生了什么，错题告诉你为什么，健康准备度告诉你今天该怎么学。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315200" y="1051560"/>
            <a:ext cx="3977640" cy="4480560"/>
          </a:xfrm>
          <a:prstGeom prst="roundRect">
            <a:avLst>
              <a:gd name="adj" fmla="val 2759"/>
            </a:avLst>
          </a:prstGeom>
          <a:solidFill>
            <a:srgbClr val="FFFFFF">
              <a:alpha val="94000"/>
            </a:srgbClr>
          </a:solidFill>
          <a:ln w="12700">
            <a:solidFill>
              <a:srgbClr val="1E40AF">
                <a:alpha val="65000"/>
              </a:srgbClr>
            </a:solidFill>
            <a:prstDash val="solid"/>
          </a:ln>
          <a:effectLst>
            <a:outerShdw sx="100000" sy="100000" kx="0" ky="0" algn="bl" rotWithShape="0" blurRad="12700" dist="50800" dir="2700000">
              <a:srgbClr val="93A4B7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635240" y="1389888"/>
            <a:ext cx="3337560" cy="3794760"/>
          </a:xfrm>
          <a:prstGeom prst="roundRect">
            <a:avLst>
              <a:gd name="adj" fmla="val 4384"/>
            </a:avLst>
          </a:prstGeom>
          <a:solidFill>
            <a:srgbClr val="FFFFFF"/>
          </a:solidFill>
          <a:ln w="16510">
            <a:solidFill>
              <a:srgbClr val="1E40A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781544" y="1554480"/>
            <a:ext cx="3044952" cy="3465576"/>
          </a:xfrm>
          <a:prstGeom prst="roundRect">
            <a:avLst>
              <a:gd name="adj" fmla="val 3904"/>
            </a:avLst>
          </a:prstGeom>
          <a:solidFill>
            <a:srgbClr val="F8FAFC"/>
          </a:solidFill>
          <a:ln w="10160">
            <a:solidFill>
              <a:srgbClr val="D8E3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863840" y="3122676"/>
            <a:ext cx="2880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40AF"/>
                </a:solidFill>
                <a:latin typeface="SF Pro Display" pitchFamily="34" charset="0"/>
                <a:ea typeface="SF Pro Display" pitchFamily="34" charset="-122"/>
                <a:cs typeface="SF Pro Display" pitchFamily="34" charset="-120"/>
              </a:rPr>
              <a:t>Final Screenshot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863840" y="3433572"/>
            <a:ext cx="2880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  <a:latin typeface="SF Pro Text" pitchFamily="34" charset="0"/>
                <a:ea typeface="SF Pro Text" pitchFamily="34" charset="-122"/>
                <a:cs typeface="SF Pro Text" pitchFamily="34" charset="-120"/>
              </a:rPr>
              <a:t>应用主视觉占位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10012680" y="6473952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b="1" dirty="0">
                <a:solidFill>
                  <a:srgbClr val="64748B"/>
                </a:solidFill>
                <a:latin typeface="SF Pro Text" pitchFamily="34" charset="0"/>
                <a:ea typeface="SF Pro Text" pitchFamily="34" charset="-122"/>
                <a:cs typeface="SF Pro Text" pitchFamily="34" charset="-120"/>
              </a:rPr>
              <a:t>StudyPulse · 12</a:t>
            </a:r>
            <a:endParaRPr lang="en-US" sz="72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SF Pro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F Pro Text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StudyPulse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StudyPulse 项目介绍</dc:title>
  <dc:subject>StudyPulse 项目介绍</dc:subject>
  <dc:creator>TRAE</dc:creator>
  <cp:lastModifiedBy>TRAE</cp:lastModifiedBy>
  <cp:revision>1</cp:revision>
  <dcterms:created xsi:type="dcterms:W3CDTF">2026-07-01T13:48:43Z</dcterms:created>
  <dcterms:modified xsi:type="dcterms:W3CDTF">2026-07-01T13:48:43Z</dcterms:modified>
</cp:coreProperties>
</file>